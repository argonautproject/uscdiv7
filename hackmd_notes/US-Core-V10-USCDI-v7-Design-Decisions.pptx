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62" r:id="rId3"/>
    <p:sldId id="257" r:id="rId4"/>
    <p:sldId id="288" r:id="rId5"/>
    <p:sldId id="286" r:id="rId6"/>
    <p:sldId id="292" r:id="rId7"/>
    <p:sldId id="285" r:id="rId8"/>
    <p:sldId id="258" r:id="rId9"/>
    <p:sldId id="259" r:id="rId10"/>
    <p:sldId id="260" r:id="rId11"/>
    <p:sldId id="261" r:id="rId12"/>
    <p:sldId id="290"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9" r:id="rId35"/>
    <p:sldId id="287" r:id="rId36"/>
    <p:sldId id="284" r:id="rId37"/>
    <p:sldId id="293" r:id="rId38"/>
    <p:sldId id="294"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98"/>
    <p:restoredTop sz="94610"/>
  </p:normalViewPr>
  <p:slideViewPr>
    <p:cSldViewPr snapToGrid="0" snapToObjects="1">
      <p:cViewPr>
        <p:scale>
          <a:sx n="125" d="100"/>
          <a:sy n="125" d="100"/>
        </p:scale>
        <p:origin x="192" y="4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Design status</c:v>
                </c:pt>
              </c:strCache>
            </c:strRef>
          </c:tx>
          <c:spPr>
            <a:solidFill>
              <a:schemeClr val="accent1"/>
            </a:solidFill>
            <a:ln w="9525" cap="flat">
              <a:solidFill>
                <a:srgbClr val="F9F9F9"/>
              </a:solidFill>
              <a:prstDash val="solid"/>
              <a:round/>
            </a:ln>
            <a:effectLst/>
          </c:spPr>
          <c:dPt>
            <c:idx val="0"/>
            <c:bubble3D val="0"/>
            <c:spPr>
              <a:solidFill>
                <a:srgbClr val="1F3A5F"/>
              </a:solidFill>
              <a:effectLst/>
            </c:spPr>
            <c:extLst>
              <c:ext xmlns:c16="http://schemas.microsoft.com/office/drawing/2014/chart" uri="{C3380CC4-5D6E-409C-BE32-E72D297353CC}">
                <c16:uniqueId val="{00000001-0DA1-E74E-AF33-68D060B47732}"/>
              </c:ext>
            </c:extLst>
          </c:dPt>
          <c:dPt>
            <c:idx val="1"/>
            <c:bubble3D val="0"/>
            <c:spPr>
              <a:solidFill>
                <a:srgbClr val="7A96B8"/>
              </a:solidFill>
              <a:effectLst/>
            </c:spPr>
            <c:extLst>
              <c:ext xmlns:c16="http://schemas.microsoft.com/office/drawing/2014/chart" uri="{C3380CC4-5D6E-409C-BE32-E72D297353CC}">
                <c16:uniqueId val="{00000003-0DA1-E74E-AF33-68D060B47732}"/>
              </c:ext>
            </c:extLst>
          </c:dPt>
          <c:dLbls>
            <c:dLbl>
              <c:idx val="0"/>
              <c:numFmt formatCode="0%" sourceLinked="0"/>
              <c:spPr/>
              <c:txPr>
                <a:bodyPr/>
                <a:lstStyle/>
                <a:p>
                  <a:pPr>
                    <a:defRPr sz="1600" b="1"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DA1-E74E-AF33-68D060B47732}"/>
                </c:ext>
              </c:extLst>
            </c:dLbl>
            <c:dLbl>
              <c:idx val="1"/>
              <c:numFmt formatCode="0%" sourceLinked="0"/>
              <c:spPr/>
              <c:txPr>
                <a:bodyPr/>
                <a:lstStyle/>
                <a:p>
                  <a:pPr>
                    <a:defRPr sz="1600" b="1"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DA1-E74E-AF33-68D060B47732}"/>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Design completed</c:v>
                </c:pt>
                <c:pt idx="1">
                  <c:v>Next steps</c:v>
                </c:pt>
              </c:strCache>
            </c:strRef>
          </c:cat>
          <c:val>
            <c:numRef>
              <c:f>Sheet1!$B$2:$B$3</c:f>
              <c:numCache>
                <c:formatCode>General</c:formatCode>
                <c:ptCount val="2"/>
                <c:pt idx="0">
                  <c:v>19</c:v>
                </c:pt>
                <c:pt idx="1">
                  <c:v>12</c:v>
                </c:pt>
              </c:numCache>
            </c:numRef>
          </c:val>
          <c:extLst>
            <c:ext xmlns:c16="http://schemas.microsoft.com/office/drawing/2014/chart" uri="{C3380CC4-5D6E-409C-BE32-E72D297353CC}">
              <c16:uniqueId val="{00000004-0DA1-E74E-AF33-68D060B47732}"/>
            </c:ext>
          </c:extLst>
        </c:ser>
        <c:dLbls>
          <c:showLegendKey val="0"/>
          <c:showVal val="0"/>
          <c:showCatName val="0"/>
          <c:showSerName val="0"/>
          <c:showPercent val="0"/>
          <c:showBubbleSize val="0"/>
          <c:showLeaderLines val="0"/>
        </c:dLbls>
        <c:firstSliceAng val="0"/>
        <c:holeSize val="55"/>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5285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C38AA-5E0A-B2DE-EA36-17E3E957F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8B005E-36E4-0CB3-45C8-02E0EAA8D7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1C0A5D-1670-CCAB-55C0-260BC10148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BACAFB-4B90-B583-674D-DB58864E9AEC}"/>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054823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A7441-FDAC-0F7E-0F9F-174739544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A0451E-F8BB-D486-65B6-4600458821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74E3B5-AE35-8E93-0830-6EF15982DE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E231F1-16A9-D114-5C0C-BE33DD85985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465652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1D879-0AAC-9707-D779-C6B1AB298C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61868A-D0BB-6688-AF44-FF053A4B8D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1B795-4089-D0CE-EF5F-474F1C3AC8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0CA9B7-F932-4200-BA4F-05506979B9FB}"/>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725335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0D696-2250-F4CF-C282-211367513A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0E9A73-7C42-7DC1-D8B2-2D4A8E6433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A303AD-BDDE-39FC-A6A9-5EDD577B58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B5719F-42E0-F94F-9434-3590B2D6EA01}"/>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3284425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C3BF7-230F-214A-C5E0-DDD6E1974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9A5CDB-6721-F8FB-AE8A-BA5B00941B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C2D781-FA0F-1E96-CE73-1BF499E9AA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57332D-1833-850D-9B32-871681AC2460}"/>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7229373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FB367-3A4C-9642-C227-011E94147B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89C2D4-1BC1-3ED6-D850-1ED2D894B5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B1C07B-9FB0-4193-4817-249D9983F9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0A34F9-2DB8-97E1-CF91-C74EC4FAA83A}"/>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39338115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9E5EF-95A9-304F-9244-005B0DC90F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9E545-7AD5-1886-518A-E25DB87AFF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24EACD-526C-D269-CC33-8AF2AAA3D9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ABA86F-3BFE-0A07-3590-8FE2065BC827}"/>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2213389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hackmd.io/mDRKbShqSQ26rCICHfSGJQ?view"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tx.fhir.org/"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hyperlink" Target="https://confluence.hl7.org/spaces/CGP/pages/453907194/Value+Set+Packages" TargetMode="External"/><Relationship Id="rId4" Type="http://schemas.openxmlformats.org/officeDocument/2006/relationships/hyperlink" Target="https://vsac.nlm.nih.gov/"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hyperlink" Target="https://hackmd.io/uwyK8MoTReG1ev02XIY-lA"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hyperlink" Target="https://hackmd.io/2654oTa6R7CNK1T-CsKvdQ" TargetMode="External"/><Relationship Id="rId4" Type="http://schemas.openxmlformats.org/officeDocument/2006/relationships/hyperlink" Target="https://build.fhir.org/ig/HL7/fhir-us-quality-core/branches/params-table/en/negation.html"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hackmd.io/CKyBxeRYQJ6SrkYPj3zUbw"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hackmd.io/CKyBxeRYQJ6SrkYPj3zUbw"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hackmd.io/5VD6Yd4WQ5m929CrY7X3jw"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hyperlink" Target="https://argonautproject.github.io/USCDIV7/StructureDefinition-us-core-appointment.html"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hackmd.io/CNYwm7OsQ7S4EBxct2yvkg"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argonautproject.github.io/USCDIV7/StructureDefinition-us-core-imagingstudy.html" TargetMode="External"/><Relationship Id="rId5" Type="http://schemas.openxmlformats.org/officeDocument/2006/relationships/hyperlink" Target="https://build.fhir.org/ig/argonautproject/smart-imaging/index.html" TargetMode="External"/><Relationship Id="rId4" Type="http://schemas.openxmlformats.org/officeDocument/2006/relationships/hyperlink" Target="https://jira.hl7.org/browse/PSS-2803"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hackmd.io/5VanJRHKQ12dIPtS-16hWQ"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build.fhir.org/ig/HL7/fhir-pacio-adi/StructureDefinition-ADI-HealthcareAgentParticipant.html" TargetMode="External"/><Relationship Id="rId5" Type="http://schemas.openxmlformats.org/officeDocument/2006/relationships/hyperlink" Target="https://build.fhir.org/ig/HL7/fhir-pacio-adi/pacp_guidance.html" TargetMode="External"/><Relationship Id="rId4" Type="http://schemas.openxmlformats.org/officeDocument/2006/relationships/hyperlink" Target="https://tx.fhir.org/r4/ValueSet/2.16.840.1.113883.11.20.12.1-20251204"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hackmd.io/2654oTa6R7CNK1T-CsKvdQ"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hyperlink" Target="https://argonautproject.github.io/USCDIV7/StructureDefinition-us-core-medicationadministration.html"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hackmd.io/VoQgkVxsQsKmBRei3Oxi4Q"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hyperlink" Target="https://argonautproject.github.io/USCDIV7/StructureDefinition-us-core-observation-accommodation.html"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hackmd.io/2c5wMyJaSRORwN5F-F5CAQ"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hyperlink" Target="https://argonautproject.github.io/USCDIV7/StructureDefinition-us-core-nutritionorder.html" TargetMode="External"/><Relationship Id="rId4" Type="http://schemas.openxmlformats.org/officeDocument/2006/relationships/hyperlink" Target="https://argonautproject.github.io/USCDIV7/StructureDefinition-us-core-devicerequest.html"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hackmd.io/2c5wMyJaSRORwN5F-F5CAQ"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hackmd.io/ziEuzkenRnqZ55h7L7vV_Q"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hackmd.io/_s1WbP-9SxGOEt8IcST0Ow"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hackmd.io/38xa1BZ7TjaPMao6LJHuCA"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hackmd.io/osTHZxJpRveYPTwpDQDmVg"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hackmd.io/fTF4vhmGTneSxejvpdOuBA"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hyperlink" Target="https://hackmd.io/D5TZacmHQKqkcniD-aT-Ag"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hackmd.io/mcuKzClMQYCtWyODyfLJdQ"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hackmd.io/Q7IK0ASkRVWrJQF4t3zJTQ"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https://hackmd.io/nsjWBx5WQlKQHua_xKhLEQ"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hyperlink" Target="https://hackmd.io/TLixyzIBRs6Wz_ulqrWUzA" TargetMode="External"/><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hyperlink" Target="https://hackmd.io/uwyK8MoTReG1ev02XIY-lA"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hackmd.io/5YMuiYySSzmhFSymS2PHnA"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hyperlink" Target="https://hackmd.io/2c5wMyJaSRORwN5F-F5CAQ" TargetMode="External"/><Relationship Id="rId4" Type="http://schemas.openxmlformats.org/officeDocument/2006/relationships/hyperlink" Target="https://build.fhir.org/ig/HL7/US-Core/clinical-notes.html#clinical-notes"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hackmd.io/D5TZacmHQKqkcniD-aT-Ag" TargetMode="External"/><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hyperlink" Target="https://hackmd.io/_s1WbP-9SxGOEt8IcST0Ow"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a:effectLst/>
      </p:bgPr>
    </p:bg>
    <p:spTree>
      <p:nvGrpSpPr>
        <p:cNvPr id="1" name=""/>
        <p:cNvGrpSpPr/>
        <p:nvPr/>
      </p:nvGrpSpPr>
      <p:grpSpPr>
        <a:xfrm>
          <a:off x="0" y="0"/>
          <a:ext cx="0" cy="0"/>
          <a:chOff x="0" y="0"/>
          <a:chExt cx="0" cy="0"/>
        </a:xfrm>
      </p:grpSpPr>
      <p:sp>
        <p:nvSpPr>
          <p:cNvPr id="2" name="Text 0"/>
          <p:cNvSpPr txBox="1"/>
          <p:nvPr/>
        </p:nvSpPr>
        <p:spPr>
          <a:xfrm>
            <a:off x="457200" y="1554480"/>
            <a:ext cx="11277295" cy="36576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Argonaut Project · US Core</a:t>
            </a:r>
            <a:endParaRPr lang="en-US" sz="1600" dirty="0"/>
          </a:p>
        </p:txBody>
      </p:sp>
      <p:sp>
        <p:nvSpPr>
          <p:cNvPr id="3" name="Text 1"/>
          <p:cNvSpPr txBox="1"/>
          <p:nvPr/>
        </p:nvSpPr>
        <p:spPr>
          <a:xfrm>
            <a:off x="457200" y="2011680"/>
            <a:ext cx="11277295" cy="146304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US Core V10 — Summary of USCDI v7 Design Decisions by Data Class</a:t>
            </a:r>
            <a:endParaRPr lang="en-US" sz="4000" dirty="0"/>
          </a:p>
        </p:txBody>
      </p:sp>
      <p:sp>
        <p:nvSpPr>
          <p:cNvPr id="4" name="Text 2"/>
          <p:cNvSpPr txBox="1"/>
          <p:nvPr/>
        </p:nvSpPr>
        <p:spPr>
          <a:xfrm>
            <a:off x="457200" y="3749040"/>
            <a:ext cx="11277295"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Design page: </a:t>
            </a:r>
            <a:r>
              <a:rPr lang="en-US" sz="1400" u="sng" dirty="0">
                <a:solidFill>
                  <a:srgbClr val="FFFFF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https://hackmd.io/mDRKbShqSQ26rCICHfSGJQ?view</a:t>
            </a:r>
            <a:endParaRPr lang="en-US" sz="1400" dirty="0"/>
          </a:p>
        </p:txBody>
      </p:sp>
      <p:sp>
        <p:nvSpPr>
          <p:cNvPr id="5" name="Text 3"/>
          <p:cNvSpPr txBox="1"/>
          <p:nvPr/>
        </p:nvSpPr>
        <p:spPr>
          <a:xfrm>
            <a:off x="457200" y="6035040"/>
            <a:ext cx="11277295" cy="32004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September 2026</a:t>
            </a:r>
            <a:endParaRPr lang="en-US" sz="1200" dirty="0"/>
          </a:p>
        </p:txBody>
      </p:sp>
      <p:pic>
        <p:nvPicPr>
          <p:cNvPr id="7" name="Picture 6" descr="A blue and white logo&#10;&#10;Description automatically generated">
            <a:extLst>
              <a:ext uri="{FF2B5EF4-FFF2-40B4-BE49-F238E27FC236}">
                <a16:creationId xmlns:a16="http://schemas.microsoft.com/office/drawing/2014/main" id="{51621EB6-09EA-6A05-4F41-CFDAE4CD3C6E}"/>
              </a:ext>
            </a:extLst>
          </p:cNvPr>
          <p:cNvPicPr>
            <a:picLocks noChangeAspect="1"/>
          </p:cNvPicPr>
          <p:nvPr/>
        </p:nvPicPr>
        <p:blipFill>
          <a:blip r:embed="rId4"/>
          <a:stretch>
            <a:fillRect/>
          </a:stretch>
        </p:blipFill>
        <p:spPr>
          <a:xfrm>
            <a:off x="457200" y="274320"/>
            <a:ext cx="1456469" cy="1280160"/>
          </a:xfrm>
          <a:prstGeom prst="rect">
            <a:avLst/>
          </a:prstGeom>
        </p:spPr>
      </p:pic>
      <p:pic>
        <p:nvPicPr>
          <p:cNvPr id="8" name="Picture 7" descr="A logo with stars and stripes&#10;&#10;Description automatically generated">
            <a:extLst>
              <a:ext uri="{FF2B5EF4-FFF2-40B4-BE49-F238E27FC236}">
                <a16:creationId xmlns:a16="http://schemas.microsoft.com/office/drawing/2014/main" id="{84F7C11D-F755-EC09-FC3E-717EF0105B63}"/>
              </a:ext>
            </a:extLst>
          </p:cNvPr>
          <p:cNvPicPr>
            <a:picLocks noChangeAspect="1"/>
          </p:cNvPicPr>
          <p:nvPr/>
        </p:nvPicPr>
        <p:blipFill>
          <a:blip r:embed="rId5"/>
          <a:stretch>
            <a:fillRect/>
          </a:stretch>
        </p:blipFill>
        <p:spPr>
          <a:xfrm>
            <a:off x="2132273" y="2743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7">
    <p:bg>
      <p:bgPr>
        <a:solidFill>
          <a:srgbClr val="1F3A5F"/>
        </a:solidFill>
        <a:effectLst/>
      </p:bgPr>
    </p:bg>
    <p:spTree>
      <p:nvGrpSpPr>
        <p:cNvPr id="1" name=""/>
        <p:cNvGrpSpPr/>
        <p:nvPr/>
      </p:nvGrpSpPr>
      <p:grpSpPr>
        <a:xfrm>
          <a:off x="0" y="0"/>
          <a:ext cx="0" cy="0"/>
          <a:chOff x="0" y="0"/>
          <a:chExt cx="0" cy="0"/>
        </a:xfrm>
      </p:grpSpPr>
      <p:sp>
        <p:nvSpPr>
          <p:cNvPr id="2" name="Text 0"/>
          <p:cNvSpPr txBox="1"/>
          <p:nvPr/>
        </p:nvSpPr>
        <p:spPr>
          <a:xfrm>
            <a:off x="914400" y="2651760"/>
            <a:ext cx="10362895" cy="128016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Bottom Line</a:t>
            </a:r>
          </a:p>
        </p:txBody>
      </p:sp>
      <p:pic>
        <p:nvPicPr>
          <p:cNvPr id="4" name="Picture 3" descr="A blue and white logo&#10;&#10;Description automatically generated">
            <a:extLst>
              <a:ext uri="{FF2B5EF4-FFF2-40B4-BE49-F238E27FC236}">
                <a16:creationId xmlns:a16="http://schemas.microsoft.com/office/drawing/2014/main" id="{B71E8908-B998-F99C-533F-ADEB7ABD5F8C}"/>
              </a:ext>
            </a:extLst>
          </p:cNvPr>
          <p:cNvPicPr>
            <a:picLocks noChangeAspect="1"/>
          </p:cNvPicPr>
          <p:nvPr/>
        </p:nvPicPr>
        <p:blipFill>
          <a:blip r:embed="rId3"/>
          <a:stretch>
            <a:fillRect/>
          </a:stretch>
        </p:blipFill>
        <p:spPr>
          <a:xfrm>
            <a:off x="457200" y="274320"/>
            <a:ext cx="1456469" cy="1280160"/>
          </a:xfrm>
          <a:prstGeom prst="rect">
            <a:avLst/>
          </a:prstGeom>
        </p:spPr>
      </p:pic>
      <p:pic>
        <p:nvPicPr>
          <p:cNvPr id="5" name="Picture 4" descr="A logo with stars and stripes&#10;&#10;Description automatically generated">
            <a:extLst>
              <a:ext uri="{FF2B5EF4-FFF2-40B4-BE49-F238E27FC236}">
                <a16:creationId xmlns:a16="http://schemas.microsoft.com/office/drawing/2014/main" id="{CBA25784-2843-7D39-22A0-4C65FD4A1D27}"/>
              </a:ext>
            </a:extLst>
          </p:cNvPr>
          <p:cNvPicPr>
            <a:picLocks noChangeAspect="1"/>
          </p:cNvPicPr>
          <p:nvPr/>
        </p:nvPicPr>
        <p:blipFill>
          <a:blip r:embed="rId4"/>
          <a:stretch>
            <a:fillRect/>
          </a:stretch>
        </p:blipFill>
        <p:spPr>
          <a:xfrm>
            <a:off x="2132273" y="274320"/>
            <a:ext cx="1280160" cy="12801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30 New USCDI Data Elements</a:t>
            </a:r>
            <a:endParaRPr lang="en-US" sz="2600" dirty="0"/>
          </a:p>
        </p:txBody>
      </p:sp>
      <p:pic>
        <p:nvPicPr>
          <p:cNvPr id="8" name="Picture 7" descr="A screenshot of a computer&#10;&#10;Description automatically generated">
            <a:extLst>
              <a:ext uri="{FF2B5EF4-FFF2-40B4-BE49-F238E27FC236}">
                <a16:creationId xmlns:a16="http://schemas.microsoft.com/office/drawing/2014/main" id="{273FCE47-3B6A-FF89-64F0-7D0518B393D6}"/>
              </a:ext>
            </a:extLst>
          </p:cNvPr>
          <p:cNvPicPr>
            <a:picLocks noChangeAspect="1"/>
          </p:cNvPicPr>
          <p:nvPr/>
        </p:nvPicPr>
        <p:blipFill>
          <a:blip r:embed="rId3"/>
          <a:stretch>
            <a:fillRect/>
          </a:stretch>
        </p:blipFill>
        <p:spPr>
          <a:xfrm>
            <a:off x="2997034" y="1116553"/>
            <a:ext cx="6197626" cy="5200965"/>
          </a:xfrm>
          <a:prstGeom prst="rect">
            <a:avLst/>
          </a:prstGeom>
          <a:ln>
            <a:solidFill>
              <a:schemeClr val="accent1"/>
            </a:solidFill>
          </a:ln>
          <a:effectLst>
            <a:outerShdw blurRad="50800" dist="38100" dir="2700000" algn="tl" rotWithShape="0">
              <a:prstClr val="black">
                <a:alpha val="40000"/>
              </a:prst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3000" b="1" dirty="0">
                <a:solidFill>
                  <a:srgbClr val="1F3A5F"/>
                </a:solidFill>
                <a:latin typeface="Cambria" pitchFamily="34" charset="0"/>
                <a:ea typeface="Cambria" pitchFamily="34" charset="-122"/>
                <a:cs typeface="Cambria" pitchFamily="34" charset="-120"/>
              </a:rPr>
              <a:t>US Core V10 Design Progress</a:t>
            </a:r>
            <a:endParaRPr lang="en-US" sz="3000" dirty="0"/>
          </a:p>
        </p:txBody>
      </p:sp>
      <p:graphicFrame>
        <p:nvGraphicFramePr>
          <p:cNvPr id="3" name="Chart 0"/>
          <p:cNvGraphicFramePr/>
          <p:nvPr/>
        </p:nvGraphicFramePr>
        <p:xfrm>
          <a:off x="457200" y="1188720"/>
          <a:ext cx="6035040" cy="51206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2103120" y="3063240"/>
            <a:ext cx="2743200" cy="1280160"/>
          </a:xfrm>
          <a:prstGeom prst="rect">
            <a:avLst/>
          </a:prstGeom>
          <a:noFill/>
          <a:ln/>
        </p:spPr>
        <p:txBody>
          <a:bodyPr wrap="square" lIns="0" tIns="0" rIns="0" bIns="0" rtlCol="0" anchor="ctr"/>
          <a:lstStyle/>
          <a:p>
            <a:pPr marL="0" indent="0" algn="ctr">
              <a:buNone/>
            </a:pPr>
            <a:r>
              <a:rPr lang="en-US" sz="3000" b="1" dirty="0">
                <a:solidFill>
                  <a:srgbClr val="1F3A5F"/>
                </a:solidFill>
                <a:latin typeface="Calibri" pitchFamily="34" charset="0"/>
                <a:ea typeface="Calibri" pitchFamily="34" charset="-122"/>
                <a:cs typeface="Calibri" pitchFamily="34" charset="-120"/>
              </a:rPr>
              <a:t>19/31</a:t>
            </a:r>
            <a:endParaRPr lang="en-US" sz="3000" dirty="0"/>
          </a:p>
          <a:p>
            <a:pPr marL="0" indent="0" algn="ctr">
              <a:buNone/>
            </a:pPr>
            <a:r>
              <a:rPr lang="en-US" sz="1200" dirty="0">
                <a:solidFill>
                  <a:srgbClr val="6B7280"/>
                </a:solidFill>
                <a:latin typeface="Calibri" pitchFamily="34" charset="0"/>
                <a:ea typeface="Calibri" pitchFamily="34" charset="-122"/>
                <a:cs typeface="Calibri" pitchFamily="34" charset="-120"/>
              </a:rPr>
              <a:t>elements decided</a:t>
            </a:r>
            <a:endParaRPr lang="en-US" sz="3000" dirty="0"/>
          </a:p>
        </p:txBody>
      </p:sp>
      <p:sp>
        <p:nvSpPr>
          <p:cNvPr id="5" name="Shape 2"/>
          <p:cNvSpPr/>
          <p:nvPr/>
        </p:nvSpPr>
        <p:spPr>
          <a:xfrm>
            <a:off x="6949440" y="1874520"/>
            <a:ext cx="256032" cy="256032"/>
          </a:xfrm>
          <a:prstGeom prst="rect">
            <a:avLst/>
          </a:prstGeom>
          <a:solidFill>
            <a:srgbClr val="1F3A5F"/>
          </a:solidFill>
          <a:ln w="12700">
            <a:solidFill>
              <a:srgbClr val="1F3A5F"/>
            </a:solidFill>
            <a:prstDash val="solid"/>
          </a:ln>
        </p:spPr>
        <p:txBody>
          <a:bodyPr/>
          <a:lstStyle/>
          <a:p>
            <a:endParaRPr lang="en-US"/>
          </a:p>
        </p:txBody>
      </p:sp>
      <p:sp>
        <p:nvSpPr>
          <p:cNvPr id="6" name="Text 3"/>
          <p:cNvSpPr txBox="1"/>
          <p:nvPr/>
        </p:nvSpPr>
        <p:spPr>
          <a:xfrm>
            <a:off x="7360920" y="1737360"/>
            <a:ext cx="4373575" cy="1463040"/>
          </a:xfrm>
          <a:prstGeom prst="rect">
            <a:avLst/>
          </a:prstGeom>
          <a:noFill/>
          <a:ln/>
        </p:spPr>
        <p:txBody>
          <a:bodyPr wrap="square" lIns="0" tIns="0" rIns="0" bIns="0" rtlCol="0" anchor="t"/>
          <a:lstStyle/>
          <a:p>
            <a:pPr marL="0" indent="0">
              <a:buNone/>
            </a:pPr>
            <a:r>
              <a:rPr lang="en-US" sz="2000" b="1" dirty="0">
                <a:solidFill>
                  <a:srgbClr val="1F2933"/>
                </a:solidFill>
                <a:latin typeface="Calibri" pitchFamily="34" charset="0"/>
                <a:ea typeface="Calibri" pitchFamily="34" charset="-122"/>
                <a:cs typeface="Calibri" pitchFamily="34" charset="-120"/>
              </a:rPr>
              <a:t>Design completed — 19</a:t>
            </a:r>
            <a:endParaRPr lang="en-US" sz="2000" dirty="0"/>
          </a:p>
          <a:p>
            <a:pPr marL="0" indent="0">
              <a:buNone/>
            </a:pPr>
            <a:r>
              <a:rPr lang="en-US" sz="1200" dirty="0">
                <a:solidFill>
                  <a:srgbClr val="6B7280"/>
                </a:solidFill>
                <a:latin typeface="Calibri" pitchFamily="34" charset="0"/>
                <a:ea typeface="Calibri" pitchFamily="34" charset="-122"/>
                <a:cs typeface="Calibri" pitchFamily="34" charset="-120"/>
              </a:rPr>
              <a:t>14 already Must Support in US Core (no change) and 5 with a recorded decision: Allergy Intolerance Criticality, Specimen Collection Date and Time, Specimen Collection Method, Referral Order, Referral Note</a:t>
            </a:r>
            <a:endParaRPr lang="en-US" sz="2000" dirty="0"/>
          </a:p>
        </p:txBody>
      </p:sp>
      <p:sp>
        <p:nvSpPr>
          <p:cNvPr id="7" name="Shape 4"/>
          <p:cNvSpPr/>
          <p:nvPr/>
        </p:nvSpPr>
        <p:spPr>
          <a:xfrm>
            <a:off x="6949440" y="3703320"/>
            <a:ext cx="256032" cy="256032"/>
          </a:xfrm>
          <a:prstGeom prst="rect">
            <a:avLst/>
          </a:prstGeom>
          <a:solidFill>
            <a:srgbClr val="7A96B8"/>
          </a:solidFill>
          <a:ln w="12700">
            <a:solidFill>
              <a:srgbClr val="7A96B8"/>
            </a:solidFill>
            <a:prstDash val="solid"/>
          </a:ln>
        </p:spPr>
        <p:txBody>
          <a:bodyPr/>
          <a:lstStyle/>
          <a:p>
            <a:endParaRPr lang="en-US"/>
          </a:p>
        </p:txBody>
      </p:sp>
      <p:sp>
        <p:nvSpPr>
          <p:cNvPr id="8" name="Text 5"/>
          <p:cNvSpPr txBox="1"/>
          <p:nvPr/>
        </p:nvSpPr>
        <p:spPr>
          <a:xfrm>
            <a:off x="7360920" y="3566160"/>
            <a:ext cx="4373575" cy="1645920"/>
          </a:xfrm>
          <a:prstGeom prst="rect">
            <a:avLst/>
          </a:prstGeom>
          <a:noFill/>
          <a:ln/>
        </p:spPr>
        <p:txBody>
          <a:bodyPr wrap="square" lIns="0" tIns="0" rIns="0" bIns="0" rtlCol="0" anchor="t"/>
          <a:lstStyle/>
          <a:p>
            <a:pPr marL="0" indent="0">
              <a:buNone/>
            </a:pPr>
            <a:r>
              <a:rPr lang="en-US" sz="2000" b="1" dirty="0">
                <a:solidFill>
                  <a:srgbClr val="1F2933"/>
                </a:solidFill>
                <a:latin typeface="Calibri" pitchFamily="34" charset="0"/>
                <a:ea typeface="Calibri" pitchFamily="34" charset="-122"/>
                <a:cs typeface="Calibri" pitchFamily="34" charset="-120"/>
              </a:rPr>
              <a:t>Next steps — 12</a:t>
            </a:r>
            <a:endParaRPr lang="en-US" sz="2000" dirty="0"/>
          </a:p>
          <a:p>
            <a:pPr marL="0" indent="0">
              <a:buNone/>
            </a:pPr>
            <a:r>
              <a:rPr lang="en-US" sz="1200" dirty="0">
                <a:solidFill>
                  <a:srgbClr val="6B7280"/>
                </a:solidFill>
                <a:latin typeface="Calibri" pitchFamily="34" charset="0"/>
                <a:ea typeface="Calibri" pitchFamily="34" charset="-122"/>
                <a:cs typeface="Calibri" pitchFamily="34" charset="-120"/>
              </a:rPr>
              <a:t>Reason Not Performed, Adverse Event Condition, Adverse Event Outcome, Appointment, Diagnostic Imaging Reference, Healthcare Agent, Medication Administration, Accommodation, Medical Device Order, Nutrition Order, Nutrition Assessment, Tobacco Use</a:t>
            </a:r>
            <a:endParaRPr lang="en-US" sz="2000" dirty="0"/>
          </a:p>
        </p:txBody>
      </p:sp>
      <p:sp>
        <p:nvSpPr>
          <p:cNvPr id="9" name="Text 6"/>
          <p:cNvSpPr txBox="1"/>
          <p:nvPr/>
        </p:nvSpPr>
        <p:spPr>
          <a:xfrm>
            <a:off x="6949440" y="5486400"/>
            <a:ext cx="4785055" cy="548640"/>
          </a:xfrm>
          <a:prstGeom prst="rect">
            <a:avLst/>
          </a:prstGeom>
          <a:noFill/>
          <a:ln/>
        </p:spPr>
        <p:txBody>
          <a:bodyPr wrap="square" lIns="0" tIns="0" rIns="0" bIns="0" rtlCol="0" anchor="t"/>
          <a:lstStyle/>
          <a:p>
            <a:pPr marL="0" indent="0">
              <a:buNone/>
            </a:pPr>
            <a:r>
              <a:rPr lang="en-US" sz="1200" i="1" dirty="0">
                <a:solidFill>
                  <a:srgbClr val="1F2933"/>
                </a:solidFill>
                <a:latin typeface="Calibri" pitchFamily="34" charset="0"/>
                <a:ea typeface="Calibri" pitchFamily="34" charset="-122"/>
                <a:cs typeface="Calibri" pitchFamily="34" charset="-120"/>
              </a:rPr>
              <a:t>61% of the 31 USCDI v7 data elements have a settled US Core V10 design as of the Sep 10 CGP call.</a:t>
            </a:r>
            <a:endParaRPr lang="en-US" sz="1200" dirty="0"/>
          </a:p>
        </p:txBody>
      </p:sp>
      <p:sp>
        <p:nvSpPr>
          <p:cNvPr id="10" name="Text 7"/>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6DEE390-CEBF-8692-3F4C-5F09347BFB8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B6DF7B7-8CDD-3C79-0A6E-8726846FAD18}"/>
              </a:ext>
            </a:extLst>
          </p:cNvPr>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a:extLst>
              <a:ext uri="{FF2B5EF4-FFF2-40B4-BE49-F238E27FC236}">
                <a16:creationId xmlns:a16="http://schemas.microsoft.com/office/drawing/2014/main" id="{63052FDF-7D49-D594-8944-3622E728BDFD}"/>
              </a:ext>
            </a:extLst>
          </p:cNvPr>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4" name="Text 2">
            <a:extLst>
              <a:ext uri="{FF2B5EF4-FFF2-40B4-BE49-F238E27FC236}">
                <a16:creationId xmlns:a16="http://schemas.microsoft.com/office/drawing/2014/main" id="{0EC9DB72-C260-8412-4387-ABDAE270BADB}"/>
              </a:ext>
            </a:extLst>
          </p:cNvPr>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Planned US Core V10 Changes</a:t>
            </a:r>
            <a:endParaRPr lang="en-US" sz="2600" dirty="0"/>
          </a:p>
        </p:txBody>
      </p:sp>
      <p:graphicFrame>
        <p:nvGraphicFramePr>
          <p:cNvPr id="5" name="Table 0">
            <a:extLst>
              <a:ext uri="{FF2B5EF4-FFF2-40B4-BE49-F238E27FC236}">
                <a16:creationId xmlns:a16="http://schemas.microsoft.com/office/drawing/2014/main" id="{A17CBE44-C1B0-B20C-30B3-BBCC9847CF6B}"/>
              </a:ext>
            </a:extLst>
          </p:cNvPr>
          <p:cNvGraphicFramePr>
            <a:graphicFrameLocks noGrp="1"/>
          </p:cNvGraphicFramePr>
          <p:nvPr>
            <p:extLst>
              <p:ext uri="{D42A27DB-BD31-4B8C-83A1-F6EECF244321}">
                <p14:modId xmlns:p14="http://schemas.microsoft.com/office/powerpoint/2010/main" val="2878131142"/>
              </p:ext>
            </p:extLst>
          </p:nvPr>
        </p:nvGraphicFramePr>
        <p:xfrm>
          <a:off x="1391920" y="2161098"/>
          <a:ext cx="8402320" cy="2535803"/>
        </p:xfrm>
        <a:graphic>
          <a:graphicData uri="http://schemas.openxmlformats.org/drawingml/2006/table">
            <a:tbl>
              <a:tblPr/>
              <a:tblGrid>
                <a:gridCol w="4692375">
                  <a:extLst>
                    <a:ext uri="{9D8B030D-6E8A-4147-A177-3AD203B41FA5}">
                      <a16:colId xmlns:a16="http://schemas.microsoft.com/office/drawing/2014/main" val="20000"/>
                    </a:ext>
                  </a:extLst>
                </a:gridCol>
                <a:gridCol w="3709945">
                  <a:extLst>
                    <a:ext uri="{9D8B030D-6E8A-4147-A177-3AD203B41FA5}">
                      <a16:colId xmlns:a16="http://schemas.microsoft.com/office/drawing/2014/main" val="20003"/>
                    </a:ext>
                  </a:extLst>
                </a:gridCol>
              </a:tblGrid>
              <a:tr h="439593">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Change Type</a:t>
                      </a:r>
                      <a:endParaRPr lang="en-US" sz="20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r">
                        <a:buNone/>
                      </a:pPr>
                      <a:r>
                        <a:rPr lang="en-US" sz="2000" b="1" dirty="0">
                          <a:solidFill>
                            <a:srgbClr val="FFFFFF"/>
                          </a:solidFill>
                          <a:latin typeface="Calibri" pitchFamily="34" charset="0"/>
                          <a:ea typeface="Calibri" pitchFamily="34" charset="-122"/>
                          <a:cs typeface="Calibri" pitchFamily="34" charset="-120"/>
                        </a:rPr>
                        <a:t>Total</a:t>
                      </a:r>
                      <a:endParaRPr lang="en-US" sz="20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419242">
                <a:tc>
                  <a:txBody>
                    <a:bodyPr/>
                    <a:lstStyle/>
                    <a:p>
                      <a:pPr marL="0" indent="0" algn="l">
                        <a:buNone/>
                      </a:pPr>
                      <a:r>
                        <a:rPr lang="en-US" sz="2000" dirty="0">
                          <a:solidFill>
                            <a:srgbClr val="1F2933"/>
                          </a:solidFill>
                          <a:latin typeface="Calibri" pitchFamily="34" charset="0"/>
                          <a:ea typeface="Calibri" pitchFamily="34" charset="-122"/>
                          <a:cs typeface="Calibri" pitchFamily="34" charset="-120"/>
                        </a:rPr>
                        <a:t>New profiles</a:t>
                      </a:r>
                      <a:endParaRPr lang="en-US" sz="20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r">
                        <a:buNone/>
                      </a:pPr>
                      <a:r>
                        <a:rPr lang="en-US" sz="2000" dirty="0">
                          <a:solidFill>
                            <a:srgbClr val="1F2933"/>
                          </a:solidFill>
                          <a:latin typeface="Calibri" pitchFamily="34" charset="0"/>
                          <a:ea typeface="Calibri" pitchFamily="34" charset="-122"/>
                          <a:cs typeface="Calibri" pitchFamily="34" charset="-120"/>
                        </a:rPr>
                        <a:t>7</a:t>
                      </a:r>
                      <a:endParaRPr lang="en-US" sz="20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9242">
                <a:tc>
                  <a:txBody>
                    <a:bodyPr/>
                    <a:lstStyle/>
                    <a:p>
                      <a:pPr marL="0" indent="0" algn="l">
                        <a:buNone/>
                      </a:pPr>
                      <a:r>
                        <a:rPr lang="en-US" sz="2000" dirty="0">
                          <a:solidFill>
                            <a:srgbClr val="1F2933"/>
                          </a:solidFill>
                          <a:latin typeface="Calibri" pitchFamily="34" charset="0"/>
                          <a:ea typeface="Calibri" pitchFamily="34" charset="-122"/>
                          <a:cs typeface="Calibri" pitchFamily="34" charset="-120"/>
                        </a:rPr>
                        <a:t>New extensions</a:t>
                      </a:r>
                      <a:endParaRPr lang="en-US" sz="20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r">
                        <a:buNone/>
                      </a:pPr>
                      <a:r>
                        <a:rPr lang="en-US" sz="2000" dirty="0">
                          <a:solidFill>
                            <a:srgbClr val="1F2933"/>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419242">
                <a:tc>
                  <a:txBody>
                    <a:bodyPr/>
                    <a:lstStyle/>
                    <a:p>
                      <a:pPr marL="0" indent="0" algn="l">
                        <a:buNone/>
                      </a:pPr>
                      <a:r>
                        <a:rPr lang="en-US" sz="2000" dirty="0">
                          <a:solidFill>
                            <a:srgbClr val="1F2933"/>
                          </a:solidFill>
                          <a:latin typeface="Calibri" pitchFamily="34" charset="0"/>
                          <a:ea typeface="Calibri" pitchFamily="34" charset="-122"/>
                          <a:cs typeface="Calibri" pitchFamily="34" charset="-120"/>
                        </a:rPr>
                        <a:t>New elements in existing profiles</a:t>
                      </a:r>
                      <a:endParaRPr lang="en-US" sz="20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r">
                        <a:buNone/>
                      </a:pPr>
                      <a:r>
                        <a:rPr lang="en-US" sz="2000" dirty="0">
                          <a:solidFill>
                            <a:srgbClr val="1F2933"/>
                          </a:solidFill>
                          <a:latin typeface="Calibri" pitchFamily="34" charset="0"/>
                          <a:ea typeface="Calibri" pitchFamily="34" charset="-122"/>
                          <a:cs typeface="Calibri" pitchFamily="34" charset="-120"/>
                        </a:rPr>
                        <a:t>10</a:t>
                      </a:r>
                      <a:endParaRPr lang="en-US" sz="20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9242">
                <a:tc>
                  <a:txBody>
                    <a:bodyPr/>
                    <a:lstStyle/>
                    <a:p>
                      <a:pPr marL="0" indent="0" algn="l">
                        <a:buNone/>
                      </a:pPr>
                      <a:r>
                        <a:rPr lang="en-US" sz="2000" dirty="0">
                          <a:solidFill>
                            <a:srgbClr val="1F2933"/>
                          </a:solidFill>
                          <a:latin typeface="Calibri" pitchFamily="34" charset="0"/>
                          <a:ea typeface="Calibri" pitchFamily="34" charset="-122"/>
                          <a:cs typeface="Calibri" pitchFamily="34" charset="-120"/>
                        </a:rPr>
                        <a:t>Value sets — new</a:t>
                      </a:r>
                      <a:endParaRPr lang="en-US" sz="20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r">
                        <a:buNone/>
                      </a:pPr>
                      <a:r>
                        <a:rPr lang="en-US" sz="2000" dirty="0">
                          <a:solidFill>
                            <a:srgbClr val="1F2933"/>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419242">
                <a:tc>
                  <a:txBody>
                    <a:bodyPr/>
                    <a:lstStyle/>
                    <a:p>
                      <a:pPr marL="0" indent="0" algn="l">
                        <a:buNone/>
                      </a:pPr>
                      <a:r>
                        <a:rPr lang="en-US" sz="2000" dirty="0">
                          <a:solidFill>
                            <a:srgbClr val="1F2933"/>
                          </a:solidFill>
                          <a:latin typeface="Calibri" pitchFamily="34" charset="0"/>
                          <a:ea typeface="Calibri" pitchFamily="34" charset="-122"/>
                          <a:cs typeface="Calibri" pitchFamily="34" charset="-120"/>
                        </a:rPr>
                        <a:t>Value sets — existing, updated</a:t>
                      </a:r>
                      <a:endParaRPr lang="en-US" sz="20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r">
                        <a:buNone/>
                      </a:pPr>
                      <a:r>
                        <a:rPr lang="en-US" sz="2000" dirty="0">
                          <a:solidFill>
                            <a:srgbClr val="1F2933"/>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0845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F3A5F"/>
        </a:solidFill>
        <a:effectLst/>
      </p:bgPr>
    </p:bg>
    <p:spTree>
      <p:nvGrpSpPr>
        <p:cNvPr id="1" name="">
          <a:extLst>
            <a:ext uri="{FF2B5EF4-FFF2-40B4-BE49-F238E27FC236}">
              <a16:creationId xmlns:a16="http://schemas.microsoft.com/office/drawing/2014/main" id="{AD5351A6-ACEF-5C52-C88A-65231A5C1A0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79D3C36-324D-ACF5-8441-6890726BC54D}"/>
              </a:ext>
            </a:extLst>
          </p:cNvPr>
          <p:cNvSpPr txBox="1"/>
          <p:nvPr/>
        </p:nvSpPr>
        <p:spPr>
          <a:xfrm>
            <a:off x="914400" y="2651760"/>
            <a:ext cx="10362895" cy="1280160"/>
          </a:xfrm>
          <a:prstGeom prst="rect">
            <a:avLst/>
          </a:prstGeom>
          <a:noFill/>
          <a:ln/>
        </p:spPr>
        <p:txBody>
          <a:bodyPr wrap="square" lIns="0" tIns="0" rIns="0" bIns="0" rtlCol="0" anchor="ctr"/>
          <a:lstStyle/>
          <a:p>
            <a:pPr marL="0" indent="0" algn="ctr">
              <a:buNone/>
            </a:pPr>
            <a:r>
              <a:rPr lang="en-US" sz="3600" b="1" dirty="0" err="1">
                <a:solidFill>
                  <a:srgbClr val="FFFFFF"/>
                </a:solidFill>
                <a:latin typeface="Cambria" pitchFamily="34" charset="0"/>
                <a:ea typeface="Cambria" pitchFamily="34" charset="-122"/>
                <a:cs typeface="Cambria" pitchFamily="34" charset="-120"/>
              </a:rPr>
              <a:t>SideBar</a:t>
            </a:r>
            <a:r>
              <a:rPr lang="en-US" sz="3600" b="1" dirty="0">
                <a:solidFill>
                  <a:srgbClr val="FFFFFF"/>
                </a:solidFill>
                <a:latin typeface="Cambria" pitchFamily="34" charset="0"/>
                <a:ea typeface="Cambria" pitchFamily="34" charset="-122"/>
                <a:cs typeface="Cambria" pitchFamily="34" charset="-120"/>
              </a:rPr>
              <a:t> </a:t>
            </a:r>
            <a:r>
              <a:rPr lang="en-US" sz="3600" b="1" dirty="0" err="1">
                <a:solidFill>
                  <a:srgbClr val="FFFFFF"/>
                </a:solidFill>
                <a:latin typeface="Cambria" pitchFamily="34" charset="0"/>
                <a:ea typeface="Cambria" pitchFamily="34" charset="-122"/>
                <a:cs typeface="Cambria" pitchFamily="34" charset="-120"/>
              </a:rPr>
              <a:t>onTerminology</a:t>
            </a:r>
            <a:endParaRPr lang="en-US" sz="3600" b="1" dirty="0">
              <a:solidFill>
                <a:srgbClr val="FFFFFF"/>
              </a:solidFill>
              <a:latin typeface="Cambria" pitchFamily="34" charset="0"/>
              <a:ea typeface="Cambria" pitchFamily="34" charset="-122"/>
              <a:cs typeface="Cambria" pitchFamily="34" charset="-120"/>
            </a:endParaRPr>
          </a:p>
        </p:txBody>
      </p:sp>
    </p:spTree>
    <p:extLst>
      <p:ext uri="{BB962C8B-B14F-4D97-AF65-F5344CB8AC3E}">
        <p14:creationId xmlns:p14="http://schemas.microsoft.com/office/powerpoint/2010/main" val="1935193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8197AE5-00BF-C921-0B48-37765963C81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2CE128F-4F8E-9D82-B39C-39C5CF0EEAF9}"/>
              </a:ext>
            </a:extLst>
          </p:cNvPr>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a:extLst>
              <a:ext uri="{FF2B5EF4-FFF2-40B4-BE49-F238E27FC236}">
                <a16:creationId xmlns:a16="http://schemas.microsoft.com/office/drawing/2014/main" id="{3CDA64B1-1D33-FA83-C9E6-CD76C7278850}"/>
              </a:ext>
            </a:extLst>
          </p:cNvPr>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4" name="Text 2">
            <a:extLst>
              <a:ext uri="{FF2B5EF4-FFF2-40B4-BE49-F238E27FC236}">
                <a16:creationId xmlns:a16="http://schemas.microsoft.com/office/drawing/2014/main" id="{331C6294-CBAD-D526-DCB9-E380F7B526AD}"/>
              </a:ext>
            </a:extLst>
          </p:cNvPr>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US Core V10 — Terminology  Updates</a:t>
            </a:r>
            <a:endParaRPr lang="en-US" sz="2600" dirty="0"/>
          </a:p>
        </p:txBody>
      </p:sp>
      <p:sp>
        <p:nvSpPr>
          <p:cNvPr id="6" name="TextBox 5">
            <a:extLst>
              <a:ext uri="{FF2B5EF4-FFF2-40B4-BE49-F238E27FC236}">
                <a16:creationId xmlns:a16="http://schemas.microsoft.com/office/drawing/2014/main" id="{75D95867-114E-30BE-0B27-9C478E25F574}"/>
              </a:ext>
            </a:extLst>
          </p:cNvPr>
          <p:cNvSpPr txBox="1"/>
          <p:nvPr/>
        </p:nvSpPr>
        <p:spPr>
          <a:xfrm>
            <a:off x="595600" y="1530812"/>
            <a:ext cx="11000494" cy="2862322"/>
          </a:xfrm>
          <a:prstGeom prst="rect">
            <a:avLst/>
          </a:prstGeom>
          <a:noFill/>
        </p:spPr>
        <p:txBody>
          <a:bodyPr wrap="square" rtlCol="0">
            <a:spAutoFit/>
          </a:bodyPr>
          <a:lstStyle/>
          <a:p>
            <a:pPr marL="285750" indent="-285750">
              <a:buFont typeface="Arial" panose="020B0604020202020204" pitchFamily="34" charset="0"/>
              <a:buChar char="•"/>
            </a:pPr>
            <a:r>
              <a:rPr lang="en-US" b="0" i="0" dirty="0">
                <a:solidFill>
                  <a:srgbClr val="222222"/>
                </a:solidFill>
                <a:effectLst/>
              </a:rPr>
              <a:t>The 227 value sets used in US Core will undergo their annual review, updates, and re-expansion before the US Core V10 release. </a:t>
            </a:r>
            <a:endParaRPr lang="en-US" dirty="0">
              <a:solidFill>
                <a:srgbClr val="222222"/>
              </a:solidFill>
            </a:endParaRPr>
          </a:p>
          <a:p>
            <a:pPr marL="285750" indent="-285750">
              <a:buFont typeface="Arial" panose="020B0604020202020204" pitchFamily="34" charset="0"/>
              <a:buChar char="•"/>
            </a:pPr>
            <a:r>
              <a:rPr lang="en-US" b="0" i="0" dirty="0">
                <a:solidFill>
                  <a:srgbClr val="222222"/>
                </a:solidFill>
                <a:effectLst/>
              </a:rPr>
              <a:t>We will review any identified issues or concerns.</a:t>
            </a:r>
          </a:p>
          <a:p>
            <a:pPr marL="285750" indent="-285750">
              <a:buFont typeface="Arial" panose="020B0604020202020204" pitchFamily="34" charset="0"/>
              <a:buChar char="•"/>
            </a:pPr>
            <a:r>
              <a:rPr lang="en-US" b="0" i="0" dirty="0">
                <a:solidFill>
                  <a:srgbClr val="222222"/>
                </a:solidFill>
                <a:effectLst/>
              </a:rPr>
              <a:t>Ways to access US Core V10 Terminology</a:t>
            </a:r>
          </a:p>
          <a:p>
            <a:pPr marL="742950" lvl="1" indent="-285750">
              <a:buFont typeface="Arial" panose="020B0604020202020204" pitchFamily="34" charset="0"/>
              <a:buChar char="•"/>
            </a:pPr>
            <a:r>
              <a:rPr lang="en-US" dirty="0">
                <a:solidFill>
                  <a:srgbClr val="222222"/>
                </a:solidFill>
              </a:rPr>
              <a:t>Directly in the IG through THO and the </a:t>
            </a:r>
            <a:r>
              <a:rPr lang="en-US" dirty="0">
                <a:solidFill>
                  <a:srgbClr val="222222"/>
                </a:solidFill>
                <a:hlinkClick r:id="rId3"/>
              </a:rPr>
              <a:t>https://tx.fhir.org</a:t>
            </a:r>
            <a:r>
              <a:rPr lang="en-US" dirty="0">
                <a:solidFill>
                  <a:srgbClr val="222222"/>
                </a:solidFill>
              </a:rPr>
              <a:t> terminology server.</a:t>
            </a:r>
            <a:r>
              <a:rPr lang="en-US" b="0" i="0" dirty="0">
                <a:solidFill>
                  <a:srgbClr val="222222"/>
                </a:solidFill>
                <a:effectLst/>
              </a:rPr>
              <a:t> </a:t>
            </a:r>
          </a:p>
          <a:p>
            <a:pPr marL="742950" lvl="1" indent="-285750">
              <a:buFont typeface="Arial" panose="020B0604020202020204" pitchFamily="34" charset="0"/>
              <a:buChar char="•"/>
            </a:pPr>
            <a:r>
              <a:rPr lang="en-US" dirty="0">
                <a:solidFill>
                  <a:srgbClr val="222222"/>
                </a:solidFill>
              </a:rPr>
              <a:t>NIH’s </a:t>
            </a:r>
            <a:r>
              <a:rPr lang="en-US" dirty="0">
                <a:solidFill>
                  <a:srgbClr val="222222"/>
                </a:solidFill>
                <a:hlinkClick r:id="rId4"/>
              </a:rPr>
              <a:t>Value Set Authority Center (VSAC)</a:t>
            </a:r>
            <a:endParaRPr lang="en-US" dirty="0">
              <a:solidFill>
                <a:srgbClr val="222222"/>
              </a:solidFill>
            </a:endParaRPr>
          </a:p>
          <a:p>
            <a:pPr marL="742950" lvl="1" indent="-285750">
              <a:buFont typeface="Arial" panose="020B0604020202020204" pitchFamily="34" charset="0"/>
              <a:buChar char="•"/>
            </a:pPr>
            <a:r>
              <a:rPr lang="en-US" sz="1800" b="1" dirty="0">
                <a:solidFill>
                  <a:srgbClr val="B23A48"/>
                </a:solidFill>
                <a:ea typeface="Calibri" pitchFamily="34" charset="-122"/>
                <a:cs typeface="Calibri" pitchFamily="34" charset="-120"/>
              </a:rPr>
              <a:t>NEW</a:t>
            </a:r>
            <a:r>
              <a:rPr lang="en-US" sz="1800" dirty="0">
                <a:solidFill>
                  <a:srgbClr val="1F2933"/>
                </a:solidFill>
                <a:ea typeface="Calibri" pitchFamily="34" charset="-122"/>
                <a:cs typeface="Calibri" pitchFamily="34" charset="-120"/>
              </a:rPr>
              <a:t>  downloadable </a:t>
            </a:r>
            <a:r>
              <a:rPr lang="en-US" b="0" i="0" u="sng" dirty="0">
                <a:solidFill>
                  <a:srgbClr val="2A6496"/>
                </a:solidFill>
                <a:effectLst/>
                <a:hlinkClick r:id="rId5"/>
              </a:rPr>
              <a:t>US Core Value Set Packages</a:t>
            </a:r>
            <a:r>
              <a:rPr lang="en-US" b="0" i="0" u="sng" dirty="0">
                <a:solidFill>
                  <a:srgbClr val="2A6496"/>
                </a:solidFill>
                <a:effectLst/>
              </a:rPr>
              <a:t> </a:t>
            </a:r>
            <a:r>
              <a:rPr lang="en-US" sz="1800" dirty="0">
                <a:solidFill>
                  <a:srgbClr val="222222"/>
                </a:solidFill>
                <a:ea typeface="Calibri" pitchFamily="34" charset="-122"/>
                <a:cs typeface="Calibri" pitchFamily="34" charset="-120"/>
              </a:rPr>
              <a:t>(JSON, XML an</a:t>
            </a:r>
            <a:r>
              <a:rPr lang="en-US" dirty="0">
                <a:solidFill>
                  <a:srgbClr val="222222"/>
                </a:solidFill>
                <a:ea typeface="Calibri" pitchFamily="34" charset="-122"/>
                <a:cs typeface="Calibri" pitchFamily="34" charset="-120"/>
              </a:rPr>
              <a:t>d CSV formats)</a:t>
            </a:r>
            <a:endParaRPr lang="en-US" sz="1800" dirty="0">
              <a:solidFill>
                <a:srgbClr val="222222"/>
              </a:solidFill>
              <a:ea typeface="Calibri" pitchFamily="34" charset="-122"/>
              <a:cs typeface="Calibri" pitchFamily="34" charset="-120"/>
            </a:endParaRPr>
          </a:p>
          <a:p>
            <a:pPr marL="742950" lvl="1" indent="-285750">
              <a:buFont typeface="Arial" panose="020B0604020202020204" pitchFamily="34" charset="0"/>
              <a:buChar char="•"/>
            </a:pPr>
            <a:r>
              <a:rPr lang="en-US" sz="1800" b="1" dirty="0">
                <a:solidFill>
                  <a:srgbClr val="B23A48"/>
                </a:solidFill>
                <a:ea typeface="Calibri" pitchFamily="34" charset="-122"/>
                <a:cs typeface="Calibri" pitchFamily="34" charset="-120"/>
              </a:rPr>
              <a:t>NEW</a:t>
            </a:r>
            <a:r>
              <a:rPr lang="en-US" sz="1800" dirty="0">
                <a:solidFill>
                  <a:srgbClr val="1F2933"/>
                </a:solidFill>
                <a:ea typeface="Calibri" pitchFamily="34" charset="-122"/>
                <a:cs typeface="Calibri" pitchFamily="34" charset="-120"/>
              </a:rPr>
              <a:t> </a:t>
            </a:r>
            <a:r>
              <a:rPr lang="en-US" b="1" i="0" dirty="0">
                <a:solidFill>
                  <a:srgbClr val="464649"/>
                </a:solidFill>
                <a:effectLst/>
              </a:rPr>
              <a:t>Cartos</a:t>
            </a:r>
            <a:r>
              <a:rPr lang="en-US" dirty="0">
                <a:solidFill>
                  <a:srgbClr val="464649"/>
                </a:solidFill>
              </a:rPr>
              <a:t>, a publicly available</a:t>
            </a:r>
            <a:r>
              <a:rPr lang="en-US" i="0" dirty="0">
                <a:solidFill>
                  <a:srgbClr val="464649"/>
                </a:solidFill>
                <a:effectLst/>
              </a:rPr>
              <a:t> FHIR terminology service hosted by ONC</a:t>
            </a:r>
            <a:endParaRPr lang="en-US" dirty="0">
              <a:solidFill>
                <a:srgbClr val="222222"/>
              </a:solidFill>
            </a:endParaRPr>
          </a:p>
          <a:p>
            <a:pPr marL="742950" lvl="1" indent="-285750">
              <a:buFont typeface="Arial" panose="020B0604020202020204" pitchFamily="34" charset="0"/>
              <a:buChar char="•"/>
            </a:pPr>
            <a:endParaRPr lang="en-US" dirty="0">
              <a:solidFill>
                <a:srgbClr val="222222"/>
              </a:solidFill>
              <a:latin typeface="Arial" panose="020B0604020202020204" pitchFamily="34" charset="0"/>
            </a:endParaRPr>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2112786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New profiles (4 decided, 3 conditional)</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3029712"/>
        </p:xfrm>
        <a:graphic>
          <a:graphicData uri="http://schemas.openxmlformats.org/drawingml/2006/table">
            <a:tbl>
              <a:tblPr/>
              <a:tblGrid>
                <a:gridCol w="3395502">
                  <a:extLst>
                    <a:ext uri="{9D8B030D-6E8A-4147-A177-3AD203B41FA5}">
                      <a16:colId xmlns:a16="http://schemas.microsoft.com/office/drawing/2014/main" val="20000"/>
                    </a:ext>
                  </a:extLst>
                </a:gridCol>
                <a:gridCol w="3093952">
                  <a:extLst>
                    <a:ext uri="{9D8B030D-6E8A-4147-A177-3AD203B41FA5}">
                      <a16:colId xmlns:a16="http://schemas.microsoft.com/office/drawing/2014/main" val="20001"/>
                    </a:ext>
                  </a:extLst>
                </a:gridCol>
                <a:gridCol w="4787841">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Profile</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 Class</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31394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Appointment Profile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Encounter Information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Approach OK — details open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394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MedicationAdministration Profile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Medications</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Approach OK — details open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31394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DeviceRequest Profile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Orders</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Approach OK — details open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394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NutritionOrder Profile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Orders</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Approach OK — details open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48158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Accommodation Observation Profile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Patient Demographics/Information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Conditional — only if the one-off Observation option wins over Simple Observation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158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Tobacco Use Observation Profile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Health Status Assessments</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Conditional — only if the gap review favors deprecate-and-replace over renaming Smoking Status</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6"/>
                  </a:ext>
                </a:extLst>
              </a:tr>
              <a:tr h="48158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ImagingStudy Profile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Diagnostic Imaging</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Conditional — open question whether US Core defines it or defers to others</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New extensions (1 decided, 1 conditional)</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1292352"/>
        </p:xfrm>
        <a:graphic>
          <a:graphicData uri="http://schemas.openxmlformats.org/drawingml/2006/table">
            <a:tbl>
              <a:tblPr/>
              <a:tblGrid>
                <a:gridCol w="3487688">
                  <a:extLst>
                    <a:ext uri="{9D8B030D-6E8A-4147-A177-3AD203B41FA5}">
                      <a16:colId xmlns:a16="http://schemas.microsoft.com/office/drawing/2014/main" val="20000"/>
                    </a:ext>
                  </a:extLst>
                </a:gridCol>
                <a:gridCol w="3220463">
                  <a:extLst>
                    <a:ext uri="{9D8B030D-6E8A-4147-A177-3AD203B41FA5}">
                      <a16:colId xmlns:a16="http://schemas.microsoft.com/office/drawing/2014/main" val="20001"/>
                    </a:ext>
                  </a:extLst>
                </a:gridCol>
                <a:gridCol w="4569144">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Extension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Applied to</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48158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FHIR R5 </a:t>
                      </a:r>
                      <a:r>
                        <a:rPr lang="en-US" sz="1000" dirty="0">
                          <a:solidFill>
                            <a:srgbClr val="1F2933"/>
                          </a:solidFill>
                          <a:highlight>
                            <a:srgbClr val="EEF1F5"/>
                          </a:highlight>
                          <a:latin typeface="Courier New" pitchFamily="34" charset="0"/>
                          <a:ea typeface="Courier New" pitchFamily="34" charset="-122"/>
                          <a:cs typeface="Courier New" pitchFamily="34" charset="-120"/>
                        </a:rPr>
                        <a:t>recorded</a:t>
                      </a:r>
                      <a:r>
                        <a:rPr lang="en-US" sz="1100" dirty="0">
                          <a:solidFill>
                            <a:srgbClr val="1F2933"/>
                          </a:solidFill>
                          <a:latin typeface="Calibri" pitchFamily="34" charset="0"/>
                          <a:ea typeface="Calibri" pitchFamily="34" charset="-122"/>
                          <a:cs typeface="Calibri" pitchFamily="34" charset="-120"/>
                        </a:rPr>
                        <a:t> cross-version extension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highlight>
                            <a:srgbClr val="EEF1F5"/>
                          </a:highlight>
                          <a:latin typeface="Courier New" pitchFamily="34" charset="0"/>
                          <a:ea typeface="Courier New" pitchFamily="34" charset="-122"/>
                          <a:cs typeface="Courier New" pitchFamily="34" charset="-120"/>
                        </a:rPr>
                        <a:t>Procedure</a:t>
                      </a:r>
                      <a:r>
                        <a:rPr lang="en-US" sz="1100" dirty="0">
                          <a:solidFill>
                            <a:srgbClr val="1F2933"/>
                          </a:solidFill>
                          <a:latin typeface="Calibri" pitchFamily="34" charset="0"/>
                          <a:ea typeface="Calibri" pitchFamily="34" charset="-122"/>
                          <a:cs typeface="Calibri" pitchFamily="34" charset="-120"/>
                        </a:rPr>
                        <a:t> (Reason Not Performed)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Conditional — disambiguates </a:t>
                      </a:r>
                      <a:r>
                        <a:rPr lang="en-US" sz="1000" dirty="0">
                          <a:solidFill>
                            <a:srgbClr val="1F2933"/>
                          </a:solidFill>
                          <a:highlight>
                            <a:srgbClr val="EEF1F5"/>
                          </a:highlight>
                          <a:latin typeface="Courier New" pitchFamily="34" charset="0"/>
                          <a:ea typeface="Courier New" pitchFamily="34" charset="-122"/>
                          <a:cs typeface="Courier New" pitchFamily="34" charset="-120"/>
                        </a:rPr>
                        <a:t>performed[x]</a:t>
                      </a:r>
                      <a:r>
                        <a:rPr lang="en-US" sz="1100" dirty="0">
                          <a:solidFill>
                            <a:srgbClr val="1F2933"/>
                          </a:solidFill>
                          <a:latin typeface="Calibri" pitchFamily="34" charset="0"/>
                          <a:ea typeface="Calibri" pitchFamily="34" charset="-122"/>
                          <a:cs typeface="Calibri" pitchFamily="34" charset="-120"/>
                        </a:rPr>
                        <a:t> when </a:t>
                      </a:r>
                      <a:r>
                        <a:rPr lang="en-US" sz="1000" dirty="0">
                          <a:solidFill>
                            <a:srgbClr val="1F2933"/>
                          </a:solidFill>
                          <a:highlight>
                            <a:srgbClr val="EEF1F5"/>
                          </a:highlight>
                          <a:latin typeface="Courier New" pitchFamily="34" charset="0"/>
                          <a:ea typeface="Courier New" pitchFamily="34" charset="-122"/>
                          <a:cs typeface="Courier New" pitchFamily="34" charset="-120"/>
                        </a:rPr>
                        <a:t>status</a:t>
                      </a:r>
                      <a:r>
                        <a:rPr lang="en-US" sz="1100" dirty="0">
                          <a:solidFill>
                            <a:srgbClr val="1F2933"/>
                          </a:solidFill>
                          <a:latin typeface="Calibri" pitchFamily="34" charset="0"/>
                          <a:ea typeface="Calibri" pitchFamily="34" charset="-122"/>
                          <a:cs typeface="Calibri" pitchFamily="34" charset="-120"/>
                        </a:rPr>
                        <a:t> is "not-done"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158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"source concept" extension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000" dirty="0">
                          <a:solidFill>
                            <a:srgbClr val="1F2933"/>
                          </a:solidFill>
                          <a:highlight>
                            <a:srgbClr val="EEF1F5"/>
                          </a:highlight>
                          <a:latin typeface="Courier New" pitchFamily="34" charset="0"/>
                          <a:ea typeface="Courier New" pitchFamily="34" charset="-122"/>
                          <a:cs typeface="Courier New" pitchFamily="34" charset="-120"/>
                        </a:rPr>
                        <a:t>AllergyIntolerance.criticality</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Conditional — under exploration to avoid the lossy mapping (no "medium" concept)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New elements in existing profiles (10)</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3971544"/>
        </p:xfrm>
        <a:graphic>
          <a:graphicData uri="http://schemas.openxmlformats.org/drawingml/2006/table">
            <a:tbl>
              <a:tblPr/>
              <a:tblGrid>
                <a:gridCol w="2774101">
                  <a:extLst>
                    <a:ext uri="{9D8B030D-6E8A-4147-A177-3AD203B41FA5}">
                      <a16:colId xmlns:a16="http://schemas.microsoft.com/office/drawing/2014/main" val="20000"/>
                    </a:ext>
                  </a:extLst>
                </a:gridCol>
                <a:gridCol w="3287463">
                  <a:extLst>
                    <a:ext uri="{9D8B030D-6E8A-4147-A177-3AD203B41FA5}">
                      <a16:colId xmlns:a16="http://schemas.microsoft.com/office/drawing/2014/main" val="20001"/>
                    </a:ext>
                  </a:extLst>
                </a:gridCol>
                <a:gridCol w="2211444">
                  <a:extLst>
                    <a:ext uri="{9D8B030D-6E8A-4147-A177-3AD203B41FA5}">
                      <a16:colId xmlns:a16="http://schemas.microsoft.com/office/drawing/2014/main" val="20002"/>
                    </a:ext>
                  </a:extLst>
                </a:gridCol>
                <a:gridCol w="3004287">
                  <a:extLst>
                    <a:ext uri="{9D8B030D-6E8A-4147-A177-3AD203B41FA5}">
                      <a16:colId xmlns:a16="http://schemas.microsoft.com/office/drawing/2014/main" val="20003"/>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Element</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Profile</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Flag</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313944">
                <a:tc>
                  <a:txBody>
                    <a:bodyPr/>
                    <a:lstStyle/>
                    <a:p>
                      <a:pPr marL="0" indent="0" algn="l">
                        <a:buNone/>
                      </a:pPr>
                      <a:r>
                        <a:rPr lang="en-US" sz="1000" dirty="0">
                          <a:solidFill>
                            <a:srgbClr val="1F2933"/>
                          </a:solidFill>
                          <a:highlight>
                            <a:srgbClr val="EEF1F5"/>
                          </a:highlight>
                          <a:latin typeface="Courier New" pitchFamily="34" charset="0"/>
                          <a:ea typeface="Courier New" pitchFamily="34" charset="-122"/>
                          <a:cs typeface="Courier New" pitchFamily="34" charset="-120"/>
                        </a:rPr>
                        <a:t>Encounter.appointment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Encounter</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i="1" dirty="0">
                          <a:solidFill>
                            <a:srgbClr val="1F2933"/>
                          </a:solidFill>
                          <a:latin typeface="Calibri" pitchFamily="34" charset="0"/>
                          <a:ea typeface="Calibri" pitchFamily="34" charset="-122"/>
                          <a:cs typeface="Calibri" pitchFamily="34" charset="-120"/>
                        </a:rPr>
                        <a:t>Additional USCDI</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Decided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3944">
                <a:tc>
                  <a:txBody>
                    <a:bodyPr/>
                    <a:lstStyle/>
                    <a:p>
                      <a:pPr marL="0" indent="0" algn="l">
                        <a:buNone/>
                      </a:pPr>
                      <a:r>
                        <a:rPr lang="en-US" sz="1000" dirty="0">
                          <a:solidFill>
                            <a:srgbClr val="1F2933"/>
                          </a:solidFill>
                          <a:highlight>
                            <a:srgbClr val="EEF1F5"/>
                          </a:highlight>
                          <a:latin typeface="Courier New" pitchFamily="34" charset="0"/>
                          <a:ea typeface="Courier New" pitchFamily="34" charset="-122"/>
                          <a:cs typeface="Courier New" pitchFamily="34" charset="-120"/>
                        </a:rPr>
                        <a:t>AllergyIntolerance.criticality</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AllergyIntolerance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i="1" dirty="0">
                          <a:solidFill>
                            <a:srgbClr val="1F2933"/>
                          </a:solidFill>
                          <a:latin typeface="Calibri" pitchFamily="34" charset="0"/>
                          <a:ea typeface="Calibri" pitchFamily="34" charset="-122"/>
                          <a:cs typeface="Calibri" pitchFamily="34" charset="-120"/>
                        </a:rPr>
                        <a:t>Additional USCDI</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Decided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313944">
                <a:tc>
                  <a:txBody>
                    <a:bodyPr/>
                    <a:lstStyle/>
                    <a:p>
                      <a:pPr marL="0" indent="0" algn="l">
                        <a:buNone/>
                      </a:pPr>
                      <a:r>
                        <a:rPr lang="en-US" sz="1000" dirty="0">
                          <a:solidFill>
                            <a:srgbClr val="1F2933"/>
                          </a:solidFill>
                          <a:highlight>
                            <a:srgbClr val="EEF1F5"/>
                          </a:highlight>
                          <a:latin typeface="Courier New" pitchFamily="34" charset="0"/>
                          <a:ea typeface="Courier New" pitchFamily="34" charset="-122"/>
                          <a:cs typeface="Courier New" pitchFamily="34" charset="-120"/>
                        </a:rPr>
                        <a:t>Specimen.collection.collected[x]</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Specimen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i="1" dirty="0">
                          <a:solidFill>
                            <a:srgbClr val="1F2933"/>
                          </a:solidFill>
                          <a:latin typeface="Calibri" pitchFamily="34" charset="0"/>
                          <a:ea typeface="Calibri" pitchFamily="34" charset="-122"/>
                          <a:cs typeface="Calibri" pitchFamily="34" charset="-120"/>
                        </a:rPr>
                        <a:t>Additional USCDI</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Decided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3944">
                <a:tc>
                  <a:txBody>
                    <a:bodyPr/>
                    <a:lstStyle/>
                    <a:p>
                      <a:pPr marL="0" indent="0" algn="l">
                        <a:buNone/>
                      </a:pPr>
                      <a:r>
                        <a:rPr lang="en-US" sz="1000" dirty="0">
                          <a:solidFill>
                            <a:srgbClr val="1F2933"/>
                          </a:solidFill>
                          <a:highlight>
                            <a:srgbClr val="EEF1F5"/>
                          </a:highlight>
                          <a:latin typeface="Courier New" pitchFamily="34" charset="0"/>
                          <a:ea typeface="Courier New" pitchFamily="34" charset="-122"/>
                          <a:cs typeface="Courier New" pitchFamily="34" charset="-120"/>
                        </a:rPr>
                        <a:t>Specimen.collection.method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Specimen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i="1" dirty="0">
                          <a:solidFill>
                            <a:srgbClr val="1F2933"/>
                          </a:solidFill>
                          <a:latin typeface="Calibri" pitchFamily="34" charset="0"/>
                          <a:ea typeface="Calibri" pitchFamily="34" charset="-122"/>
                          <a:cs typeface="Calibri" pitchFamily="34" charset="-120"/>
                        </a:rPr>
                        <a:t>Additional USCDI</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Decided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313944">
                <a:tc>
                  <a:txBody>
                    <a:bodyPr/>
                    <a:lstStyle/>
                    <a:p>
                      <a:pPr marL="0" indent="0" algn="l">
                        <a:buNone/>
                      </a:pPr>
                      <a:r>
                        <a:rPr lang="en-US" sz="1000" dirty="0">
                          <a:solidFill>
                            <a:srgbClr val="1F2933"/>
                          </a:solidFill>
                          <a:highlight>
                            <a:srgbClr val="EEF1F5"/>
                          </a:highlight>
                          <a:latin typeface="Courier New" pitchFamily="34" charset="0"/>
                          <a:ea typeface="Courier New" pitchFamily="34" charset="-122"/>
                          <a:cs typeface="Courier New" pitchFamily="34" charset="-120"/>
                        </a:rPr>
                        <a:t>MedicationRequest.doNotPerform</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MedicationRequest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Must Support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Scope decided — binding and search open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3944">
                <a:tc>
                  <a:txBody>
                    <a:bodyPr/>
                    <a:lstStyle/>
                    <a:p>
                      <a:pPr marL="0" indent="0" algn="l">
                        <a:buNone/>
                      </a:pPr>
                      <a:r>
                        <a:rPr lang="en-US" sz="1000" dirty="0">
                          <a:solidFill>
                            <a:srgbClr val="1F2933"/>
                          </a:solidFill>
                          <a:highlight>
                            <a:srgbClr val="EEF1F5"/>
                          </a:highlight>
                          <a:latin typeface="Courier New" pitchFamily="34" charset="0"/>
                          <a:ea typeface="Courier New" pitchFamily="34" charset="-122"/>
                          <a:cs typeface="Courier New" pitchFamily="34" charset="-120"/>
                        </a:rPr>
                        <a:t>Procedure.statusReason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Procedure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Must Support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Scope decided — binding and search open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6"/>
                  </a:ext>
                </a:extLst>
              </a:tr>
              <a:tr h="481584">
                <a:tc>
                  <a:txBody>
                    <a:bodyPr/>
                    <a:lstStyle/>
                    <a:p>
                      <a:pPr marL="0" indent="0" algn="l">
                        <a:buNone/>
                      </a:pPr>
                      <a:r>
                        <a:rPr lang="en-US" sz="1000" dirty="0">
                          <a:solidFill>
                            <a:srgbClr val="1F2933"/>
                          </a:solidFill>
                          <a:highlight>
                            <a:srgbClr val="EEF1F5"/>
                          </a:highlight>
                          <a:latin typeface="Courier New" pitchFamily="34" charset="0"/>
                          <a:ea typeface="Courier New" pitchFamily="34" charset="-122"/>
                          <a:cs typeface="Courier New" pitchFamily="34" charset="-120"/>
                        </a:rPr>
                        <a:t>DiagnosticReport.media.link</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DiagnosticReport for Report and Note Exchange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i="1" dirty="0">
                          <a:solidFill>
                            <a:srgbClr val="1F2933"/>
                          </a:solidFill>
                          <a:latin typeface="Calibri" pitchFamily="34" charset="0"/>
                          <a:ea typeface="Calibri" pitchFamily="34" charset="-122"/>
                          <a:cs typeface="Calibri" pitchFamily="34" charset="-120"/>
                        </a:rPr>
                        <a:t>Additional USCDI</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Approach OK — details open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81584">
                <a:tc>
                  <a:txBody>
                    <a:bodyPr/>
                    <a:lstStyle/>
                    <a:p>
                      <a:pPr marL="0" indent="0" algn="l">
                        <a:buNone/>
                      </a:pPr>
                      <a:r>
                        <a:rPr lang="en-US" sz="1000" dirty="0">
                          <a:solidFill>
                            <a:srgbClr val="1F2933"/>
                          </a:solidFill>
                          <a:highlight>
                            <a:srgbClr val="EEF1F5"/>
                          </a:highlight>
                          <a:latin typeface="Courier New" pitchFamily="34" charset="0"/>
                          <a:ea typeface="Courier New" pitchFamily="34" charset="-122"/>
                          <a:cs typeface="Courier New" pitchFamily="34" charset="-120"/>
                        </a:rPr>
                        <a:t>DiagnosticReport.imagingStudy</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DiagnosticReport for Report and Note Exchange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i="1" dirty="0">
                          <a:solidFill>
                            <a:srgbClr val="1F2933"/>
                          </a:solidFill>
                          <a:latin typeface="Calibri" pitchFamily="34" charset="0"/>
                          <a:ea typeface="Calibri" pitchFamily="34" charset="-122"/>
                          <a:cs typeface="Calibri" pitchFamily="34" charset="-120"/>
                        </a:rPr>
                        <a:t>Additional USCDI</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Approach OK — details open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8"/>
                  </a:ext>
                </a:extLst>
              </a:tr>
              <a:tr h="481584">
                <a:tc>
                  <a:txBody>
                    <a:bodyPr/>
                    <a:lstStyle/>
                    <a:p>
                      <a:pPr marL="0" indent="0" algn="l">
                        <a:buNone/>
                      </a:pPr>
                      <a:r>
                        <a:rPr lang="en-US" sz="1000" dirty="0">
                          <a:solidFill>
                            <a:srgbClr val="1F2933"/>
                          </a:solidFill>
                          <a:highlight>
                            <a:srgbClr val="EEF1F5"/>
                          </a:highlight>
                          <a:latin typeface="Courier New" pitchFamily="34" charset="0"/>
                          <a:ea typeface="Courier New" pitchFamily="34" charset="-122"/>
                          <a:cs typeface="Courier New" pitchFamily="34" charset="-120"/>
                        </a:rPr>
                        <a:t>DiagnosticReport.identifier</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DiagnosticReport for Report and Note Exchange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i="1" dirty="0">
                          <a:solidFill>
                            <a:srgbClr val="1F2933"/>
                          </a:solidFill>
                          <a:latin typeface="Calibri" pitchFamily="34" charset="0"/>
                          <a:ea typeface="Calibri" pitchFamily="34" charset="-122"/>
                          <a:cs typeface="Calibri" pitchFamily="34" charset="-120"/>
                        </a:rPr>
                        <a:t>Additional USCDI</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Approach OK — details open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3944">
                <a:tc>
                  <a:txBody>
                    <a:bodyPr/>
                    <a:lstStyle/>
                    <a:p>
                      <a:pPr marL="0" indent="0" algn="l">
                        <a:buNone/>
                      </a:pPr>
                      <a:r>
                        <a:rPr lang="en-US" sz="1000" dirty="0">
                          <a:solidFill>
                            <a:srgbClr val="1F2933"/>
                          </a:solidFill>
                          <a:highlight>
                            <a:srgbClr val="EEF1F5"/>
                          </a:highlight>
                          <a:latin typeface="Courier New" pitchFamily="34" charset="0"/>
                          <a:ea typeface="Courier New" pitchFamily="34" charset="-122"/>
                          <a:cs typeface="Courier New" pitchFamily="34" charset="-120"/>
                        </a:rPr>
                        <a:t>ServiceRequest.identifier</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ServiceRequest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i="1" dirty="0">
                          <a:solidFill>
                            <a:srgbClr val="1F2933"/>
                          </a:solidFill>
                          <a:latin typeface="Calibri" pitchFamily="34" charset="0"/>
                          <a:ea typeface="Calibri" pitchFamily="34" charset="-122"/>
                          <a:cs typeface="Calibri" pitchFamily="34" charset="-120"/>
                        </a:rPr>
                        <a:t>Additional USCDI</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Approach OK — details open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Value sets (2 new, 3-4 existing updated)</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6" cy="2715768"/>
        </p:xfrm>
        <a:graphic>
          <a:graphicData uri="http://schemas.openxmlformats.org/drawingml/2006/table">
            <a:tbl>
              <a:tblPr/>
              <a:tblGrid>
                <a:gridCol w="3029109">
                  <a:extLst>
                    <a:ext uri="{9D8B030D-6E8A-4147-A177-3AD203B41FA5}">
                      <a16:colId xmlns:a16="http://schemas.microsoft.com/office/drawing/2014/main" val="20000"/>
                    </a:ext>
                  </a:extLst>
                </a:gridCol>
                <a:gridCol w="4735018">
                  <a:extLst>
                    <a:ext uri="{9D8B030D-6E8A-4147-A177-3AD203B41FA5}">
                      <a16:colId xmlns:a16="http://schemas.microsoft.com/office/drawing/2014/main" val="20001"/>
                    </a:ext>
                  </a:extLst>
                </a:gridCol>
                <a:gridCol w="3513169">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Value set</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Change</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48158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Negation Reason Codes (VSAC)</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B23A48"/>
                          </a:solidFill>
                          <a:latin typeface="Calibri" pitchFamily="34" charset="0"/>
                          <a:ea typeface="Calibri" pitchFamily="34" charset="-122"/>
                          <a:cs typeface="Calibri" pitchFamily="34" charset="-120"/>
                        </a:rPr>
                        <a:t>NEW</a:t>
                      </a:r>
                      <a:r>
                        <a:rPr lang="en-US" sz="1100" dirty="0">
                          <a:solidFill>
                            <a:srgbClr val="1F2933"/>
                          </a:solidFill>
                          <a:latin typeface="Calibri" pitchFamily="34" charset="0"/>
                          <a:ea typeface="Calibri" pitchFamily="34" charset="-122"/>
                          <a:cs typeface="Calibri" pitchFamily="34" charset="-120"/>
                        </a:rPr>
                        <a:t> — extensible binding on </a:t>
                      </a:r>
                      <a:r>
                        <a:rPr lang="en-US" sz="1000" dirty="0">
                          <a:solidFill>
                            <a:srgbClr val="1F2933"/>
                          </a:solidFill>
                          <a:highlight>
                            <a:srgbClr val="EEF1F5"/>
                          </a:highlight>
                          <a:latin typeface="Courier New" pitchFamily="34" charset="0"/>
                          <a:ea typeface="Courier New" pitchFamily="34" charset="-122"/>
                          <a:cs typeface="Courier New" pitchFamily="34" charset="-120"/>
                        </a:rPr>
                        <a:t>Immunization.statusReason</a:t>
                      </a:r>
                      <a:r>
                        <a:rPr lang="en-US" sz="1100" dirty="0">
                          <a:solidFill>
                            <a:srgbClr val="1F2933"/>
                          </a:solidFill>
                          <a:latin typeface="Calibri" pitchFamily="34" charset="0"/>
                          <a:ea typeface="Calibri" pitchFamily="34" charset="-122"/>
                          <a:cs typeface="Calibri" pitchFamily="34" charset="-120"/>
                        </a:rPr>
                        <a:t>, </a:t>
                      </a:r>
                      <a:r>
                        <a:rPr lang="en-US" sz="1000" dirty="0">
                          <a:solidFill>
                            <a:srgbClr val="1F2933"/>
                          </a:solidFill>
                          <a:highlight>
                            <a:srgbClr val="EEF1F5"/>
                          </a:highlight>
                          <a:latin typeface="Courier New" pitchFamily="34" charset="0"/>
                          <a:ea typeface="Courier New" pitchFamily="34" charset="-122"/>
                          <a:cs typeface="Courier New" pitchFamily="34" charset="-120"/>
                        </a:rPr>
                        <a:t>MedicationAdministration.statusReason</a:t>
                      </a:r>
                      <a:r>
                        <a:rPr lang="en-US" sz="1100" dirty="0">
                          <a:solidFill>
                            <a:srgbClr val="1F2933"/>
                          </a:solidFill>
                          <a:latin typeface="Calibri" pitchFamily="34" charset="0"/>
                          <a:ea typeface="Calibri" pitchFamily="34" charset="-122"/>
                          <a:cs typeface="Calibri" pitchFamily="34" charset="-120"/>
                        </a:rPr>
                        <a:t>, </a:t>
                      </a:r>
                      <a:r>
                        <a:rPr lang="en-US" sz="1000" dirty="0">
                          <a:solidFill>
                            <a:srgbClr val="1F2933"/>
                          </a:solidFill>
                          <a:highlight>
                            <a:srgbClr val="EEF1F5"/>
                          </a:highlight>
                          <a:latin typeface="Courier New" pitchFamily="34" charset="0"/>
                          <a:ea typeface="Courier New" pitchFamily="34" charset="-122"/>
                          <a:cs typeface="Courier New" pitchFamily="34" charset="-120"/>
                        </a:rPr>
                        <a:t>Procedure.statusReason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Proposed — adopt vs. keep the base </a:t>
                      </a:r>
                      <a:r>
                        <a:rPr lang="en-US" sz="1100" i="1" dirty="0">
                          <a:solidFill>
                            <a:srgbClr val="1F2933"/>
                          </a:solidFill>
                          <a:latin typeface="Calibri" pitchFamily="34" charset="0"/>
                          <a:ea typeface="Calibri" pitchFamily="34" charset="-122"/>
                          <a:cs typeface="Calibri" pitchFamily="34" charset="-120"/>
                        </a:rPr>
                        <a:t>example</a:t>
                      </a:r>
                      <a:r>
                        <a:rPr lang="en-US" sz="1100" dirty="0">
                          <a:solidFill>
                            <a:srgbClr val="1F2933"/>
                          </a:solidFill>
                          <a:latin typeface="Calibri" pitchFamily="34" charset="0"/>
                          <a:ea typeface="Calibri" pitchFamily="34" charset="-122"/>
                          <a:cs typeface="Calibri" pitchFamily="34" charset="-120"/>
                        </a:rPr>
                        <a:t> bindings</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158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Specimen Collection Method (VSAC)</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b="1" dirty="0">
                          <a:solidFill>
                            <a:srgbClr val="B23A48"/>
                          </a:solidFill>
                          <a:latin typeface="Calibri" pitchFamily="34" charset="0"/>
                          <a:ea typeface="Calibri" pitchFamily="34" charset="-122"/>
                          <a:cs typeface="Calibri" pitchFamily="34" charset="-120"/>
                        </a:rPr>
                        <a:t>NEW</a:t>
                      </a:r>
                      <a:r>
                        <a:rPr lang="en-US" sz="1100" dirty="0">
                          <a:solidFill>
                            <a:srgbClr val="1F2933"/>
                          </a:solidFill>
                          <a:latin typeface="Calibri" pitchFamily="34" charset="0"/>
                          <a:ea typeface="Calibri" pitchFamily="34" charset="-122"/>
                          <a:cs typeface="Calibri" pitchFamily="34" charset="-120"/>
                        </a:rPr>
                        <a:t> — 211 concepts, </a:t>
                      </a:r>
                      <a:r>
                        <a:rPr lang="en-US" sz="1100" i="1" dirty="0">
                          <a:solidFill>
                            <a:srgbClr val="1F2933"/>
                          </a:solidFill>
                          <a:latin typeface="Calibri" pitchFamily="34" charset="0"/>
                          <a:ea typeface="Calibri" pitchFamily="34" charset="-122"/>
                          <a:cs typeface="Calibri" pitchFamily="34" charset="-120"/>
                        </a:rPr>
                        <a:t>preferred</a:t>
                      </a:r>
                      <a:r>
                        <a:rPr lang="en-US" sz="1100" dirty="0">
                          <a:solidFill>
                            <a:srgbClr val="1F2933"/>
                          </a:solidFill>
                          <a:latin typeface="Calibri" pitchFamily="34" charset="0"/>
                          <a:ea typeface="Calibri" pitchFamily="34" charset="-122"/>
                          <a:cs typeface="Calibri" pitchFamily="34" charset="-120"/>
                        </a:rPr>
                        <a:t> binding on </a:t>
                      </a:r>
                      <a:r>
                        <a:rPr lang="en-US" sz="1000" dirty="0">
                          <a:solidFill>
                            <a:srgbClr val="1F2933"/>
                          </a:solidFill>
                          <a:highlight>
                            <a:srgbClr val="EEF1F5"/>
                          </a:highlight>
                          <a:latin typeface="Courier New" pitchFamily="34" charset="0"/>
                          <a:ea typeface="Courier New" pitchFamily="34" charset="-122"/>
                          <a:cs typeface="Courier New" pitchFamily="34" charset="-120"/>
                        </a:rPr>
                        <a:t>Specimen.collection.method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Decided — concept list TBD with the terminology reviewers</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31394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Care Team Member Function (VSAC)</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Add LOINC 81335-2 Patient healthcare agent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Decided — one code vs. three still open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394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ServiceRequest Category Codes</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Add SNOMED CT 3457005 Patient referral (procedure)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Decided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31394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 Core Clinical Note Type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Add LOINC 57133-1 Referral note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Decided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158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Personal And Legal Relationship Role Type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Binding strength </a:t>
                      </a:r>
                      <a:r>
                        <a:rPr lang="en-US" sz="1100" i="1" dirty="0">
                          <a:solidFill>
                            <a:srgbClr val="1F2933"/>
                          </a:solidFill>
                          <a:latin typeface="Calibri" pitchFamily="34" charset="0"/>
                          <a:ea typeface="Calibri" pitchFamily="34" charset="-122"/>
                          <a:cs typeface="Calibri" pitchFamily="34" charset="-120"/>
                        </a:rPr>
                        <a:t>preferred</a:t>
                      </a:r>
                      <a:r>
                        <a:rPr lang="en-US" sz="1100" dirty="0">
                          <a:solidFill>
                            <a:srgbClr val="1F2933"/>
                          </a:solidFill>
                          <a:latin typeface="Calibri" pitchFamily="34" charset="0"/>
                          <a:ea typeface="Calibri" pitchFamily="34" charset="-122"/>
                          <a:cs typeface="Calibri" pitchFamily="34" charset="-120"/>
                        </a:rPr>
                        <a:t> → </a:t>
                      </a:r>
                      <a:r>
                        <a:rPr lang="en-US" sz="1100" i="1" dirty="0">
                          <a:solidFill>
                            <a:srgbClr val="1F2933"/>
                          </a:solidFill>
                          <a:latin typeface="Calibri" pitchFamily="34" charset="0"/>
                          <a:ea typeface="Calibri" pitchFamily="34" charset="-122"/>
                          <a:cs typeface="Calibri" pitchFamily="34" charset="-120"/>
                        </a:rPr>
                        <a:t>extensible</a:t>
                      </a:r>
                      <a:r>
                        <a:rPr lang="en-US" sz="1100" dirty="0">
                          <a:solidFill>
                            <a:srgbClr val="1F2933"/>
                          </a:solidFill>
                          <a:latin typeface="Calibri" pitchFamily="34" charset="0"/>
                          <a:ea typeface="Calibri" pitchFamily="34" charset="-122"/>
                          <a:cs typeface="Calibri" pitchFamily="34" charset="-120"/>
                        </a:rPr>
                        <a:t> on </a:t>
                      </a:r>
                      <a:r>
                        <a:rPr lang="en-US" sz="1000" dirty="0">
                          <a:solidFill>
                            <a:srgbClr val="1F2933"/>
                          </a:solidFill>
                          <a:highlight>
                            <a:srgbClr val="EEF1F5"/>
                          </a:highlight>
                          <a:latin typeface="Courier New" pitchFamily="34" charset="0"/>
                          <a:ea typeface="Courier New" pitchFamily="34" charset="-122"/>
                          <a:cs typeface="Courier New" pitchFamily="34" charset="-120"/>
                        </a:rPr>
                        <a:t>RelatedPerson.relationship</a:t>
                      </a:r>
                      <a:r>
                        <a:rPr lang="en-US" sz="1100" dirty="0">
                          <a:solidFill>
                            <a:srgbClr val="1F2933"/>
                          </a:solidFill>
                          <a:latin typeface="Calibri" pitchFamily="34" charset="0"/>
                          <a:ea typeface="Calibri" pitchFamily="34" charset="-122"/>
                          <a:cs typeface="Calibri" pitchFamily="34" charset="-120"/>
                        </a:rPr>
                        <a:t> (no value set content change)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 Conditional — pending the PACIO follow-up call</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F3A5F"/>
        </a:solidFill>
        <a:effectLst/>
      </p:bgPr>
    </p:bg>
    <p:spTree>
      <p:nvGrpSpPr>
        <p:cNvPr id="1" name="">
          <a:extLst>
            <a:ext uri="{FF2B5EF4-FFF2-40B4-BE49-F238E27FC236}">
              <a16:creationId xmlns:a16="http://schemas.microsoft.com/office/drawing/2014/main" id="{8C105A9F-0A39-F558-F9EF-2674130B7B2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C355A68-DB1A-61AA-EF54-7BD0FBF5C793}"/>
              </a:ext>
            </a:extLst>
          </p:cNvPr>
          <p:cNvSpPr txBox="1"/>
          <p:nvPr/>
        </p:nvSpPr>
        <p:spPr>
          <a:xfrm>
            <a:off x="914400" y="2651760"/>
            <a:ext cx="10362895" cy="128016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Design Decisions by Data Class</a:t>
            </a:r>
          </a:p>
        </p:txBody>
      </p:sp>
      <p:sp>
        <p:nvSpPr>
          <p:cNvPr id="3" name="TextBox 2">
            <a:extLst>
              <a:ext uri="{FF2B5EF4-FFF2-40B4-BE49-F238E27FC236}">
                <a16:creationId xmlns:a16="http://schemas.microsoft.com/office/drawing/2014/main" id="{29C2673E-AB03-9DD8-7F6C-75F0171FB0CF}"/>
              </a:ext>
            </a:extLst>
          </p:cNvPr>
          <p:cNvSpPr txBox="1"/>
          <p:nvPr/>
        </p:nvSpPr>
        <p:spPr>
          <a:xfrm>
            <a:off x="1367639" y="5506720"/>
            <a:ext cx="4795159" cy="923330"/>
          </a:xfrm>
          <a:prstGeom prst="rect">
            <a:avLst/>
          </a:prstGeom>
          <a:noFill/>
        </p:spPr>
        <p:txBody>
          <a:bodyPr wrap="none" rtlCol="0">
            <a:spAutoFit/>
          </a:bodyPr>
          <a:lstStyle/>
          <a:p>
            <a:endParaRPr lang="en-US" sz="1800" dirty="0"/>
          </a:p>
          <a:p>
            <a:r>
              <a:rPr lang="en-US" sz="1800" dirty="0"/>
              <a:t>📅 </a:t>
            </a:r>
            <a:r>
              <a:rPr lang="en-US" b="1" dirty="0">
                <a:solidFill>
                  <a:srgbClr val="FFFFFF"/>
                </a:solidFill>
                <a:latin typeface="Cambria" pitchFamily="34" charset="0"/>
              </a:rPr>
              <a:t>S</a:t>
            </a:r>
            <a:r>
              <a:rPr lang="en-US" sz="1800" b="1" dirty="0">
                <a:solidFill>
                  <a:srgbClr val="FFFFFF"/>
                </a:solidFill>
                <a:latin typeface="Cambria" pitchFamily="34" charset="0"/>
              </a:rPr>
              <a:t>ymbol means we will </a:t>
            </a:r>
            <a:r>
              <a:rPr lang="en-US" b="1" dirty="0">
                <a:solidFill>
                  <a:srgbClr val="FFFFFF"/>
                </a:solidFill>
                <a:latin typeface="Cambria" pitchFamily="34" charset="0"/>
              </a:rPr>
              <a:t>d</a:t>
            </a:r>
            <a:r>
              <a:rPr lang="en-US" sz="1800" b="1" dirty="0">
                <a:solidFill>
                  <a:srgbClr val="FFFFFF"/>
                </a:solidFill>
                <a:latin typeface="Cambria" pitchFamily="34" charset="0"/>
              </a:rPr>
              <a:t>iscuss this week</a:t>
            </a:r>
            <a:endParaRPr lang="en-US" sz="1800" dirty="0"/>
          </a:p>
          <a:p>
            <a:endParaRPr lang="en-US" dirty="0"/>
          </a:p>
        </p:txBody>
      </p:sp>
      <p:pic>
        <p:nvPicPr>
          <p:cNvPr id="4" name="Picture 3" descr="A blue and white logo&#10;&#10;Description automatically generated">
            <a:extLst>
              <a:ext uri="{FF2B5EF4-FFF2-40B4-BE49-F238E27FC236}">
                <a16:creationId xmlns:a16="http://schemas.microsoft.com/office/drawing/2014/main" id="{359252BD-1E44-C4F5-91AC-9AA85E835205}"/>
              </a:ext>
            </a:extLst>
          </p:cNvPr>
          <p:cNvPicPr>
            <a:picLocks noChangeAspect="1"/>
          </p:cNvPicPr>
          <p:nvPr/>
        </p:nvPicPr>
        <p:blipFill>
          <a:blip r:embed="rId3"/>
          <a:stretch>
            <a:fillRect/>
          </a:stretch>
        </p:blipFill>
        <p:spPr>
          <a:xfrm>
            <a:off x="457200" y="274320"/>
            <a:ext cx="1456469" cy="1280160"/>
          </a:xfrm>
          <a:prstGeom prst="rect">
            <a:avLst/>
          </a:prstGeom>
        </p:spPr>
      </p:pic>
      <p:pic>
        <p:nvPicPr>
          <p:cNvPr id="5" name="Picture 4" descr="A logo with stars and stripes&#10;&#10;Description automatically generated">
            <a:extLst>
              <a:ext uri="{FF2B5EF4-FFF2-40B4-BE49-F238E27FC236}">
                <a16:creationId xmlns:a16="http://schemas.microsoft.com/office/drawing/2014/main" id="{BB865C53-9768-AC72-5266-A9493AB07C0C}"/>
              </a:ext>
            </a:extLst>
          </p:cNvPr>
          <p:cNvPicPr>
            <a:picLocks noChangeAspect="1"/>
          </p:cNvPicPr>
          <p:nvPr/>
        </p:nvPicPr>
        <p:blipFill>
          <a:blip r:embed="rId4"/>
          <a:stretch>
            <a:fillRect/>
          </a:stretch>
        </p:blipFill>
        <p:spPr>
          <a:xfrm>
            <a:off x="2132273" y="274320"/>
            <a:ext cx="1280160" cy="1280160"/>
          </a:xfrm>
          <a:prstGeom prst="rect">
            <a:avLst/>
          </a:prstGeom>
        </p:spPr>
      </p:pic>
    </p:spTree>
    <p:extLst>
      <p:ext uri="{BB962C8B-B14F-4D97-AF65-F5344CB8AC3E}">
        <p14:creationId xmlns:p14="http://schemas.microsoft.com/office/powerpoint/2010/main" val="3781474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300" b="1" dirty="0">
                <a:solidFill>
                  <a:srgbClr val="1F3A5F"/>
                </a:solidFill>
                <a:latin typeface="Cambria" pitchFamily="34" charset="0"/>
                <a:ea typeface="Cambria" pitchFamily="34" charset="-122"/>
                <a:cs typeface="Cambria" pitchFamily="34" charset="-120"/>
              </a:rPr>
              <a:t>Healthcare Information Attributes (NEW data class)</a:t>
            </a:r>
            <a:endParaRPr lang="en-US" sz="23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https://hackmd.io/uwyK8MoTReG1ev02XIY-lA</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2130552"/>
        </p:xfrm>
        <a:graphic>
          <a:graphicData uri="http://schemas.openxmlformats.org/drawingml/2006/table">
            <a:tbl>
              <a:tblPr/>
              <a:tblGrid>
                <a:gridCol w="3931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150815">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 Element / USCDI Definition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Required Terminology</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Design Decision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115214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Reason Not Performed</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Explanation or justification provided when a planned care activity or practice guideline is not carried out.</a:t>
                      </a:r>
                      <a:endParaRPr lang="en-US" sz="1100" dirty="0">
                        <a:latin typeface="Calibri" charset="0"/>
                        <a:ea typeface="Calibri" charset="0"/>
                        <a:cs typeface="Calibri" charset="0"/>
                      </a:endParaRPr>
                    </a:p>
                    <a:p>
                      <a:pPr marL="0" indent="0" algn="l">
                        <a:buNone/>
                      </a:pPr>
                      <a:r>
                        <a:rPr lang="en-US" sz="1100" i="1" dirty="0">
                          <a:solidFill>
                            <a:srgbClr val="1F2933"/>
                          </a:solidFill>
                          <a:latin typeface="Calibri" pitchFamily="34" charset="0"/>
                          <a:ea typeface="Calibri" pitchFamily="34" charset="-122"/>
                          <a:cs typeface="Calibri" pitchFamily="34" charset="-120"/>
                        </a:rPr>
                        <a:t>Usage note: Included with at least procedure, immunization, and medication.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Follow the </a:t>
                      </a:r>
                      <a:r>
                        <a:rPr lang="en-US" sz="1100" u="sng" dirty="0">
                          <a:solidFill>
                            <a:srgbClr val="1D4ED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US Quality Core negation pattern</a:t>
                      </a:r>
                      <a:r>
                        <a:rPr lang="en-US" sz="1100" dirty="0">
                          <a:solidFill>
                            <a:srgbClr val="1F2933"/>
                          </a:solidFill>
                          <a:latin typeface="Calibri" pitchFamily="34" charset="0"/>
                          <a:ea typeface="Calibri" pitchFamily="34" charset="-122"/>
                          <a:cs typeface="Calibri" pitchFamily="34" charset="-120"/>
                        </a:rPr>
                        <a:t> on </a:t>
                      </a:r>
                      <a:r>
                        <a:rPr lang="en-US" sz="1100" b="1" dirty="0">
                          <a:solidFill>
                            <a:srgbClr val="1F2933"/>
                          </a:solidFill>
                          <a:latin typeface="Calibri" pitchFamily="34" charset="0"/>
                          <a:ea typeface="Calibri" pitchFamily="34" charset="-122"/>
                          <a:cs typeface="Calibri" pitchFamily="34" charset="-120"/>
                        </a:rPr>
                        <a:t>only</a:t>
                      </a:r>
                      <a:r>
                        <a:rPr lang="en-US" sz="1100" dirty="0">
                          <a:solidFill>
                            <a:srgbClr val="1F2933"/>
                          </a:solidFill>
                          <a:latin typeface="Calibri" pitchFamily="34" charset="0"/>
                          <a:ea typeface="Calibri" pitchFamily="34" charset="-122"/>
                          <a:cs typeface="Calibri" pitchFamily="34" charset="-120"/>
                        </a:rPr>
                        <a:t> US Core Immunization, MedicationAdministration, and Procedure. </a:t>
                      </a:r>
                      <a:r>
                        <a:rPr lang="en-US" sz="1100" b="1" dirty="0">
                          <a:solidFill>
                            <a:srgbClr val="1F2933"/>
                          </a:solidFill>
                          <a:latin typeface="Calibri" pitchFamily="34" charset="0"/>
                          <a:ea typeface="Calibri" pitchFamily="34" charset="-122"/>
                          <a:cs typeface="Calibri" pitchFamily="34" charset="-120"/>
                        </a:rPr>
                        <a:t>Defer</a:t>
                      </a:r>
                      <a:r>
                        <a:rPr lang="en-US" sz="1100" dirty="0">
                          <a:solidFill>
                            <a:srgbClr val="1F2933"/>
                          </a:solidFill>
                          <a:latin typeface="Calibri" pitchFamily="34" charset="0"/>
                          <a:ea typeface="Calibri" pitchFamily="34" charset="-122"/>
                          <a:cs typeface="Calibri" pitchFamily="34" charset="-120"/>
                        </a:rPr>
                        <a:t> profiling other US Core Profiles </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 Immunization: unchanged</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 MedicationAdministration: See </a:t>
                      </a:r>
                      <a:r>
                        <a:rPr lang="en-US" sz="1100" u="sng" dirty="0">
                          <a:solidFill>
                            <a:srgbClr val="1D4ED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Medications</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 Procedure: add </a:t>
                      </a:r>
                      <a:r>
                        <a:rPr lang="en-US" sz="1000" dirty="0">
                          <a:solidFill>
                            <a:srgbClr val="1F2933"/>
                          </a:solidFill>
                          <a:highlight>
                            <a:srgbClr val="EEF1F5"/>
                          </a:highlight>
                          <a:latin typeface="Courier New" pitchFamily="34" charset="0"/>
                          <a:ea typeface="Courier New" pitchFamily="34" charset="-122"/>
                          <a:cs typeface="Courier New" pitchFamily="34" charset="-120"/>
                        </a:rPr>
                        <a:t>.statusReason</a:t>
                      </a:r>
                      <a:r>
                        <a:rPr lang="en-US" sz="1100" dirty="0">
                          <a:solidFill>
                            <a:srgbClr val="1F2933"/>
                          </a:solidFill>
                          <a:latin typeface="Calibri" pitchFamily="34" charset="0"/>
                          <a:ea typeface="Calibri" pitchFamily="34" charset="-122"/>
                          <a:cs typeface="Calibri" pitchFamily="34" charset="-120"/>
                        </a:rPr>
                        <a:t> 0..1 MS (</a:t>
                      </a:r>
                      <a:r>
                        <a:rPr lang="en-US" sz="1100" b="1" dirty="0">
                          <a:solidFill>
                            <a:srgbClr val="1F2933"/>
                          </a:solidFill>
                          <a:latin typeface="Calibri" pitchFamily="34" charset="0"/>
                          <a:ea typeface="Calibri" pitchFamily="34" charset="-122"/>
                          <a:cs typeface="Calibri" pitchFamily="34" charset="-120"/>
                        </a:rPr>
                        <a:t>new element</a:t>
                      </a:r>
                      <a:r>
                        <a:rPr lang="en-US" sz="1100" dirty="0">
                          <a:solidFill>
                            <a:srgbClr val="1F2933"/>
                          </a:solidFill>
                          <a:latin typeface="Calibri" pitchFamily="34" charset="0"/>
                          <a:ea typeface="Calibri" pitchFamily="34" charset="-122"/>
                          <a:cs typeface="Calibri" pitchFamily="34" charset="-120"/>
                        </a:rPr>
                        <a:t>) and FHIR R5 </a:t>
                      </a:r>
                      <a:r>
                        <a:rPr lang="en-US" sz="1000" dirty="0">
                          <a:solidFill>
                            <a:srgbClr val="1F2933"/>
                          </a:solidFill>
                          <a:highlight>
                            <a:srgbClr val="EEF1F5"/>
                          </a:highlight>
                          <a:latin typeface="Courier New" pitchFamily="34" charset="0"/>
                          <a:ea typeface="Courier New" pitchFamily="34" charset="-122"/>
                          <a:cs typeface="Courier New" pitchFamily="34" charset="-120"/>
                        </a:rPr>
                        <a:t>.recorded</a:t>
                      </a:r>
                      <a:r>
                        <a:rPr lang="en-US" sz="1100" dirty="0">
                          <a:solidFill>
                            <a:srgbClr val="1F2933"/>
                          </a:solidFill>
                          <a:latin typeface="Calibri" pitchFamily="34" charset="0"/>
                          <a:ea typeface="Calibri" pitchFamily="34" charset="-122"/>
                          <a:cs typeface="Calibri" pitchFamily="34" charset="-120"/>
                        </a:rPr>
                        <a:t> as a cross-version extension 0..1 </a:t>
                      </a:r>
                      <a:r>
                        <a:rPr lang="en-US" sz="1100" i="1" dirty="0">
                          <a:solidFill>
                            <a:srgbClr val="1F2933"/>
                          </a:solidFill>
                          <a:latin typeface="Calibri" pitchFamily="34" charset="0"/>
                          <a:ea typeface="Calibri" pitchFamily="34" charset="-122"/>
                          <a:cs typeface="Calibri" pitchFamily="34" charset="-120"/>
                        </a:rPr>
                        <a:t>Additional USCDI</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922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Diagnostic Report Date and Time</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Date and time a report containing test results or clinical interpretation was made available to providers.</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No change</a:t>
                      </a:r>
                      <a:r>
                        <a:rPr lang="en-US" sz="1100" dirty="0">
                          <a:solidFill>
                            <a:srgbClr val="1F2933"/>
                          </a:solidFill>
                          <a:latin typeface="Calibri" pitchFamily="34" charset="0"/>
                          <a:ea typeface="Calibri" pitchFamily="34" charset="-122"/>
                          <a:cs typeface="Calibri" pitchFamily="34" charset="-120"/>
                        </a:rPr>
                        <a:t> — </a:t>
                      </a:r>
                      <a:r>
                        <a:rPr lang="en-US" sz="1000" dirty="0">
                          <a:solidFill>
                            <a:srgbClr val="1F2933"/>
                          </a:solidFill>
                          <a:highlight>
                            <a:srgbClr val="EEF1F5"/>
                          </a:highlight>
                          <a:latin typeface="Courier New" pitchFamily="34" charset="0"/>
                          <a:ea typeface="Courier New" pitchFamily="34" charset="-122"/>
                          <a:cs typeface="Courier New" pitchFamily="34" charset="-120"/>
                        </a:rPr>
                        <a:t>DiagnosticReport.issued</a:t>
                      </a:r>
                      <a:r>
                        <a:rPr lang="en-US" sz="1100" dirty="0">
                          <a:solidFill>
                            <a:srgbClr val="1F2933"/>
                          </a:solidFill>
                          <a:latin typeface="Calibri" pitchFamily="34" charset="0"/>
                          <a:ea typeface="Calibri" pitchFamily="34" charset="-122"/>
                          <a:cs typeface="Calibri" pitchFamily="34" charset="-120"/>
                        </a:rPr>
                        <a:t> is already Must Support in all relevant profiles.</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bl>
          </a:graphicData>
        </a:graphic>
      </p:graphicFrame>
      <p:sp>
        <p:nvSpPr>
          <p:cNvPr id="7" name="Text 4"/>
          <p:cNvSpPr txBox="1"/>
          <p:nvPr/>
        </p:nvSpPr>
        <p:spPr>
          <a:xfrm>
            <a:off x="457200" y="3621024"/>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Open issues</a:t>
            </a:r>
            <a:endParaRPr lang="en-US" sz="1400" dirty="0"/>
          </a:p>
        </p:txBody>
      </p:sp>
      <p:sp>
        <p:nvSpPr>
          <p:cNvPr id="8" name="Text 5"/>
          <p:cNvSpPr txBox="1"/>
          <p:nvPr/>
        </p:nvSpPr>
        <p:spPr>
          <a:xfrm>
            <a:off x="457200" y="3961384"/>
            <a:ext cx="11277295" cy="1210056"/>
          </a:xfrm>
          <a:prstGeom prst="rect">
            <a:avLst/>
          </a:prstGeom>
          <a:noFill/>
          <a:ln/>
        </p:spPr>
        <p:txBody>
          <a:bodyPr wrap="square" lIns="0" tIns="0" rIns="0" bIns="0" rtlCol="0" anchor="t"/>
          <a:lstStyle/>
          <a:p>
            <a:pPr marL="228600" indent="-228600">
              <a:spcAft>
                <a:spcPts val="400"/>
              </a:spcAft>
              <a:buSzPct val="100000"/>
              <a:buFontTx/>
              <a:buChar char="•"/>
            </a:pPr>
            <a:r>
              <a:rPr lang="en-US" sz="1200" b="1" dirty="0">
                <a:solidFill>
                  <a:srgbClr val="1F2933"/>
                </a:solidFill>
                <a:latin typeface="Calibri" pitchFamily="34" charset="0"/>
                <a:ea typeface="Calibri" pitchFamily="34" charset="-122"/>
                <a:cs typeface="Calibri" pitchFamily="34" charset="-120"/>
              </a:rPr>
              <a:t>Reason Not Performed</a:t>
            </a:r>
            <a:endParaRPr lang="en-US" sz="1200" dirty="0">
              <a:latin typeface="Calibri" charset="0"/>
              <a:ea typeface="Calibri" charset="0"/>
              <a:cs typeface="Calibri" charset="0"/>
            </a:endParaRPr>
          </a:p>
          <a:p>
            <a:pPr marL="685800" lvl="1"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Binding for </a:t>
            </a:r>
            <a:r>
              <a:rPr lang="en-US" sz="1100" dirty="0">
                <a:solidFill>
                  <a:srgbClr val="1F2933"/>
                </a:solidFill>
                <a:highlight>
                  <a:srgbClr val="EEF1F5"/>
                </a:highlight>
                <a:latin typeface="Courier New" pitchFamily="34" charset="0"/>
                <a:ea typeface="Courier New" pitchFamily="34" charset="-122"/>
                <a:cs typeface="Courier New" pitchFamily="34" charset="-120"/>
              </a:rPr>
              <a:t>.statusReason</a:t>
            </a:r>
            <a:endParaRPr lang="en-US" sz="1200" dirty="0"/>
          </a:p>
          <a:p>
            <a:pPr marL="685800" lvl="1"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Search API conformance for </a:t>
            </a:r>
            <a:r>
              <a:rPr lang="en-US" sz="1100" dirty="0">
                <a:solidFill>
                  <a:srgbClr val="1F2933"/>
                </a:solidFill>
                <a:highlight>
                  <a:srgbClr val="EEF1F5"/>
                </a:highlight>
                <a:latin typeface="Courier New" pitchFamily="34" charset="0"/>
                <a:ea typeface="Courier New" pitchFamily="34" charset="-122"/>
                <a:cs typeface="Courier New" pitchFamily="34" charset="-120"/>
              </a:rPr>
              <a:t>patient + status</a:t>
            </a:r>
          </a:p>
          <a:p>
            <a:pPr marL="685800" lvl="1" indent="-228600">
              <a:spcAft>
                <a:spcPts val="400"/>
              </a:spcAft>
              <a:buSzPct val="100000"/>
              <a:buFontTx/>
              <a:buChar char="•"/>
            </a:pPr>
            <a:r>
              <a:rPr lang="en-US" sz="1100" dirty="0">
                <a:solidFill>
                  <a:srgbClr val="1F2933"/>
                </a:solidFill>
                <a:latin typeface="Calibri" pitchFamily="34" charset="0"/>
                <a:ea typeface="Calibri" pitchFamily="34" charset="-122"/>
                <a:cs typeface="Calibri" pitchFamily="34" charset="-120"/>
              </a:rPr>
              <a:t>Differences with US Quality Core</a:t>
            </a:r>
            <a:endParaRPr lang="en-US" sz="1100" dirty="0">
              <a:solidFill>
                <a:srgbClr val="1F2933"/>
              </a:solidFill>
              <a:highlight>
                <a:srgbClr val="EEF1F5"/>
              </a:highlight>
              <a:latin typeface="Courier New" pitchFamily="34" charset="0"/>
              <a:ea typeface="Courier New" pitchFamily="34" charset="-122"/>
              <a:cs typeface="Courier New" pitchFamily="34" charset="-120"/>
            </a:endParaRPr>
          </a:p>
          <a:p>
            <a:pPr marL="228600" indent="-228600">
              <a:spcAft>
                <a:spcPts val="400"/>
              </a:spcAft>
              <a:buSzPct val="100000"/>
              <a:buFontTx/>
              <a:buChar char="•"/>
            </a:pPr>
            <a:r>
              <a:rPr lang="en-US" sz="1200" b="1" dirty="0">
                <a:solidFill>
                  <a:srgbClr val="1F2933"/>
                </a:solidFill>
                <a:latin typeface="Calibri" pitchFamily="34" charset="0"/>
                <a:ea typeface="Calibri" pitchFamily="34" charset="-122"/>
                <a:cs typeface="Calibri" pitchFamily="34" charset="-120"/>
              </a:rPr>
              <a:t>Diagnostic Report Date and Time  - </a:t>
            </a:r>
            <a:r>
              <a:rPr lang="en-US" sz="1200" dirty="0">
                <a:solidFill>
                  <a:srgbClr val="1F2933"/>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p>
            <a:pPr marL="228600" indent="-228600">
              <a:spcAft>
                <a:spcPts val="400"/>
              </a:spcAft>
              <a:buSzPct val="100000"/>
              <a:buChar char="•"/>
            </a:pPr>
            <a:endParaRPr lang="en-US" sz="1100" dirty="0">
              <a:solidFill>
                <a:srgbClr val="1F2933"/>
              </a:solidFill>
              <a:highlight>
                <a:srgbClr val="EEF1F5"/>
              </a:highlight>
              <a:latin typeface="Courier New" pitchFamily="34" charset="0"/>
              <a:ea typeface="Courier New" pitchFamily="34" charset="-122"/>
              <a:cs typeface="Courier New" pitchFamily="34" charset="-120"/>
            </a:endParaRPr>
          </a:p>
          <a:p>
            <a:pPr marL="685800" lvl="1" indent="-228600">
              <a:spcAft>
                <a:spcPts val="400"/>
              </a:spcAft>
              <a:buSzPct val="100000"/>
              <a:buChar char="•"/>
            </a:pPr>
            <a:endParaRPr lang="en-US" sz="1200" dirty="0"/>
          </a:p>
        </p:txBody>
      </p:sp>
      <p:sp>
        <p:nvSpPr>
          <p:cNvPr id="6" name="Text 6"/>
          <p:cNvSpPr txBox="1"/>
          <p:nvPr/>
        </p:nvSpPr>
        <p:spPr>
          <a:xfrm>
            <a:off x="457200" y="5144008"/>
            <a:ext cx="11277295" cy="274320"/>
          </a:xfrm>
          <a:prstGeom prst="rect">
            <a:avLst/>
          </a:prstGeom>
          <a:noFill/>
          <a:ln/>
        </p:spPr>
        <p:txBody>
          <a:bodyPr wrap="square" lIns="0" tIns="0" rIns="0" bIns="0" rtlCol="0" anchor="b"/>
          <a:lstStyle/>
          <a:p>
            <a:pPr marL="0" indent="0">
              <a:buNone/>
            </a:pPr>
            <a:r>
              <a:rPr lang="en-US" sz="1400" dirty="0"/>
              <a:t>📅  </a:t>
            </a:r>
            <a:r>
              <a:rPr lang="en-US" sz="1400" b="1" dirty="0">
                <a:solidFill>
                  <a:srgbClr val="1F3A5F"/>
                </a:solidFill>
                <a:latin typeface="Calibri" pitchFamily="34" charset="0"/>
                <a:ea typeface="Calibri" pitchFamily="34" charset="-122"/>
                <a:cs typeface="Calibri" pitchFamily="34" charset="-120"/>
              </a:rPr>
              <a:t>Next steps</a:t>
            </a:r>
            <a:endParaRPr lang="en-US" sz="1400" dirty="0"/>
          </a:p>
        </p:txBody>
      </p:sp>
      <p:sp>
        <p:nvSpPr>
          <p:cNvPr id="10" name="Text 7"/>
          <p:cNvSpPr txBox="1"/>
          <p:nvPr/>
        </p:nvSpPr>
        <p:spPr>
          <a:xfrm>
            <a:off x="457200" y="5464048"/>
            <a:ext cx="11277295" cy="749808"/>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Settle the binding strength and search API</a:t>
            </a:r>
          </a:p>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Align US Quality Core to US Core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Adverse Events (NEW data class)</a:t>
            </a:r>
            <a:endParaRPr lang="en-US" sz="26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https://hackmd.io/CKyBxeRYQJ6SrkYPj3zUbw</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560098748"/>
              </p:ext>
            </p:extLst>
          </p:nvPr>
        </p:nvGraphicFramePr>
        <p:xfrm>
          <a:off x="457200" y="1417320"/>
          <a:ext cx="11277295" cy="3069336"/>
        </p:xfrm>
        <a:graphic>
          <a:graphicData uri="http://schemas.openxmlformats.org/drawingml/2006/table">
            <a:tbl>
              <a:tblPr/>
              <a:tblGrid>
                <a:gridCol w="3931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150815">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 Element / USCDI Definition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Required Terminology</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Design Decision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115214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Adverse Event Condition</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Change to patient condition that could be an unintended effect of clinical interventions. Examples include but are not limited to rash, fever.</a:t>
                      </a:r>
                      <a:endParaRPr lang="en-US" sz="1100" dirty="0">
                        <a:latin typeface="Calibri" charset="0"/>
                        <a:ea typeface="Calibri" charset="0"/>
                        <a:cs typeface="Calibri" charset="0"/>
                      </a:endParaRPr>
                    </a:p>
                    <a:p>
                      <a:pPr marL="0" indent="0" algn="l">
                        <a:buNone/>
                      </a:pPr>
                      <a:r>
                        <a:rPr lang="en-US" sz="1100" i="1" dirty="0">
                          <a:solidFill>
                            <a:srgbClr val="1F2933"/>
                          </a:solidFill>
                          <a:latin typeface="Calibri" pitchFamily="34" charset="0"/>
                          <a:ea typeface="Calibri" pitchFamily="34" charset="-122"/>
                          <a:cs typeface="Calibri" pitchFamily="34" charset="-120"/>
                        </a:rPr>
                        <a:t>Usage note: Include for at least immunizations and medications.</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SNOMED CT U.S. Edition, March 2026 Release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Instead of using the AdverseEvent Resource, map to the </a:t>
                      </a:r>
                      <a:r>
                        <a:rPr lang="en-US" sz="1100" b="1" dirty="0">
                          <a:solidFill>
                            <a:srgbClr val="1F2933"/>
                          </a:solidFill>
                          <a:latin typeface="Calibri" pitchFamily="34" charset="0"/>
                          <a:ea typeface="Calibri" pitchFamily="34" charset="-122"/>
                          <a:cs typeface="Calibri" pitchFamily="34" charset="-120"/>
                        </a:rPr>
                        <a:t>existing</a:t>
                      </a:r>
                      <a:r>
                        <a:rPr lang="en-US" sz="1100" dirty="0">
                          <a:solidFill>
                            <a:srgbClr val="1F2933"/>
                          </a:solidFill>
                          <a:latin typeface="Calibri" pitchFamily="34" charset="0"/>
                          <a:ea typeface="Calibri" pitchFamily="34" charset="-122"/>
                          <a:cs typeface="Calibri" pitchFamily="34" charset="-120"/>
                        </a:rPr>
                        <a:t> US Core profile that records the event — initial list: </a:t>
                      </a:r>
                    </a:p>
                    <a:p>
                      <a:pPr marL="171450" indent="-171450" algn="l">
                        <a:buFont typeface="Arial" panose="020B0604020202020204" pitchFamily="34" charset="0"/>
                        <a:buChar char="•"/>
                      </a:pPr>
                      <a:r>
                        <a:rPr lang="en-US" sz="1000" dirty="0" err="1">
                          <a:solidFill>
                            <a:srgbClr val="1F2933"/>
                          </a:solidFill>
                          <a:highlight>
                            <a:srgbClr val="EEF1F5"/>
                          </a:highlight>
                          <a:latin typeface="Courier New" pitchFamily="34" charset="0"/>
                          <a:ea typeface="Courier New" pitchFamily="34" charset="-122"/>
                          <a:cs typeface="Courier New" pitchFamily="34" charset="-120"/>
                        </a:rPr>
                        <a:t>AllergyIntolerance.reaction</a:t>
                      </a:r>
                      <a:endParaRPr lang="en-US" sz="1100" dirty="0">
                        <a:solidFill>
                          <a:srgbClr val="1F2933"/>
                        </a:solidFill>
                        <a:highlight>
                          <a:srgbClr val="EEF1F5"/>
                        </a:highlight>
                        <a:latin typeface="Calibri" pitchFamily="34" charset="0"/>
                        <a:ea typeface="Courier New" pitchFamily="34" charset="-122"/>
                        <a:cs typeface="Calibri" pitchFamily="34" charset="-120"/>
                      </a:endParaRPr>
                    </a:p>
                    <a:p>
                      <a:pPr marL="171450" indent="-171450" algn="l">
                        <a:buFont typeface="Arial" panose="020B0604020202020204" pitchFamily="34" charset="0"/>
                        <a:buChar char="•"/>
                      </a:pPr>
                      <a:r>
                        <a:rPr lang="en-US" sz="1000" dirty="0" err="1">
                          <a:solidFill>
                            <a:srgbClr val="1F2933"/>
                          </a:solidFill>
                          <a:highlight>
                            <a:srgbClr val="EEF1F5"/>
                          </a:highlight>
                          <a:latin typeface="Courier New" pitchFamily="34" charset="0"/>
                          <a:ea typeface="Courier New" pitchFamily="34" charset="-122"/>
                          <a:cs typeface="Courier New" pitchFamily="34" charset="-120"/>
                        </a:rPr>
                        <a:t>Immunization.reaction</a:t>
                      </a:r>
                      <a:endParaRPr lang="en-US" sz="1100" dirty="0">
                        <a:solidFill>
                          <a:srgbClr val="1F2933"/>
                        </a:solidFill>
                        <a:highlight>
                          <a:srgbClr val="EEF1F5"/>
                        </a:highlight>
                        <a:latin typeface="Calibri" pitchFamily="34" charset="0"/>
                        <a:ea typeface="Courier New" pitchFamily="34" charset="-122"/>
                        <a:cs typeface="Calibri" pitchFamily="34" charset="-120"/>
                      </a:endParaRPr>
                    </a:p>
                    <a:p>
                      <a:pPr marL="171450" indent="-171450" algn="l">
                        <a:buFont typeface="Arial" panose="020B0604020202020204" pitchFamily="34" charset="0"/>
                        <a:buChar char="•"/>
                      </a:pPr>
                      <a:r>
                        <a:rPr lang="en-US" sz="1100" dirty="0">
                          <a:solidFill>
                            <a:srgbClr val="1F2933"/>
                          </a:solidFill>
                          <a:latin typeface="Calibri" pitchFamily="34" charset="0"/>
                          <a:ea typeface="Calibri" pitchFamily="34" charset="-122"/>
                          <a:cs typeface="Calibri" pitchFamily="34" charset="-120"/>
                        </a:rPr>
                        <a:t>Condition (problem list and encounter diagnosis)</a:t>
                      </a:r>
                    </a:p>
                    <a:p>
                      <a:pPr marL="171450" indent="-171450" algn="l">
                        <a:buFont typeface="Arial" panose="020B0604020202020204" pitchFamily="34" charset="0"/>
                        <a:buChar char="•"/>
                      </a:pPr>
                      <a:r>
                        <a:rPr lang="en-US" sz="1100" dirty="0" err="1">
                          <a:solidFill>
                            <a:srgbClr val="1F2933"/>
                          </a:solidFill>
                          <a:latin typeface="Calibri" pitchFamily="34" charset="0"/>
                          <a:ea typeface="Calibri" pitchFamily="34" charset="-122"/>
                          <a:cs typeface="Calibri" pitchFamily="34" charset="-120"/>
                        </a:rPr>
                        <a:t>DocumentReference</a:t>
                      </a:r>
                      <a:r>
                        <a:rPr lang="en-US" sz="1100" dirty="0">
                          <a:solidFill>
                            <a:srgbClr val="1F2933"/>
                          </a:solidFill>
                          <a:latin typeface="Calibri" pitchFamily="34" charset="0"/>
                          <a:ea typeface="Calibri" pitchFamily="34" charset="-122"/>
                          <a:cs typeface="Calibri" pitchFamily="34" charset="-120"/>
                        </a:rPr>
                        <a:t> (clinical notes)</a:t>
                      </a:r>
                    </a:p>
                    <a:p>
                      <a:pPr marL="171450" indent="-171450" algn="l">
                        <a:buFont typeface="Arial" panose="020B0604020202020204" pitchFamily="34" charset="0"/>
                        <a:buChar char="•"/>
                      </a:pPr>
                      <a:r>
                        <a:rPr lang="en-US" sz="1100" dirty="0">
                          <a:solidFill>
                            <a:srgbClr val="1F2933"/>
                          </a:solidFill>
                          <a:latin typeface="Calibri" pitchFamily="34" charset="0"/>
                          <a:ea typeface="Calibri" pitchFamily="34" charset="-122"/>
                          <a:cs typeface="Calibri" pitchFamily="34" charset="-120"/>
                        </a:rPr>
                        <a:t>Simple Observation</a:t>
                      </a:r>
                    </a:p>
                    <a:p>
                      <a:pPr marL="171450" indent="-171450" algn="l">
                        <a:buFont typeface="Arial" panose="020B0604020202020204" pitchFamily="34" charset="0"/>
                        <a:buChar char="•"/>
                      </a:pPr>
                      <a:r>
                        <a:rPr lang="en-US" sz="1100" dirty="0">
                          <a:solidFill>
                            <a:srgbClr val="1F2933"/>
                          </a:solidFill>
                          <a:latin typeface="Calibri" pitchFamily="34" charset="0"/>
                          <a:ea typeface="Calibri" pitchFamily="34" charset="-122"/>
                          <a:cs typeface="Calibri" pitchFamily="34" charset="-120"/>
                        </a:rPr>
                        <a:t>Procedure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31978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Adverse Event Outcome</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Resulting patient status or consequence following an unexpected condition change or clinical event. Examples include but are not limited to hospitalized, recovered, recovered with sequelae, and death.</a:t>
                      </a:r>
                      <a:endParaRPr lang="en-US" sz="1100" dirty="0">
                        <a:latin typeface="Calibri" charset="0"/>
                        <a:ea typeface="Calibri" charset="0"/>
                        <a:cs typeface="Calibri" charset="0"/>
                      </a:endParaRPr>
                    </a:p>
                    <a:p>
                      <a:pPr marL="0" indent="0" algn="l">
                        <a:buNone/>
                      </a:pPr>
                      <a:r>
                        <a:rPr lang="en-US" sz="1100" i="1" dirty="0">
                          <a:solidFill>
                            <a:srgbClr val="1F2933"/>
                          </a:solidFill>
                          <a:latin typeface="Calibri" pitchFamily="34" charset="0"/>
                          <a:ea typeface="Calibri" pitchFamily="34" charset="-122"/>
                          <a:cs typeface="Calibri" pitchFamily="34" charset="-120"/>
                        </a:rPr>
                        <a:t>Usage note: Include for at least immunizations and medications.</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Instead of using the AdverseEvent Resource, map to the </a:t>
                      </a:r>
                      <a:r>
                        <a:rPr lang="en-US" sz="1100" b="1" dirty="0">
                          <a:solidFill>
                            <a:srgbClr val="1F2933"/>
                          </a:solidFill>
                          <a:latin typeface="Calibri" pitchFamily="34" charset="0"/>
                          <a:ea typeface="Calibri" pitchFamily="34" charset="-122"/>
                          <a:cs typeface="Calibri" pitchFamily="34" charset="-120"/>
                        </a:rPr>
                        <a:t>existing</a:t>
                      </a:r>
                      <a:r>
                        <a:rPr lang="en-US" sz="1100" dirty="0">
                          <a:solidFill>
                            <a:srgbClr val="1F2933"/>
                          </a:solidFill>
                          <a:latin typeface="Calibri" pitchFamily="34" charset="0"/>
                          <a:ea typeface="Calibri" pitchFamily="34" charset="-122"/>
                          <a:cs typeface="Calibri" pitchFamily="34" charset="-120"/>
                        </a:rPr>
                        <a:t> US Core profile that records the outcome — initial list: </a:t>
                      </a:r>
                    </a:p>
                    <a:p>
                      <a:pPr marL="171450" indent="-171450" algn="l">
                        <a:buFont typeface="Arial" panose="020B0604020202020204" pitchFamily="34" charset="0"/>
                        <a:buChar char="•"/>
                      </a:pPr>
                      <a:r>
                        <a:rPr lang="en-US" sz="1100" dirty="0">
                          <a:solidFill>
                            <a:srgbClr val="1F2933"/>
                          </a:solidFill>
                          <a:latin typeface="Calibri" pitchFamily="34" charset="0"/>
                          <a:ea typeface="Calibri" pitchFamily="34" charset="-122"/>
                          <a:cs typeface="Calibri" pitchFamily="34" charset="-120"/>
                        </a:rPr>
                        <a:t>Encounter (discharge disposition)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Adverse Events (NEW data class)</a:t>
            </a:r>
            <a:r>
              <a:rPr lang="en-US" sz="1300" i="1" dirty="0">
                <a:solidFill>
                  <a:srgbClr val="6B7280"/>
                </a:solidFill>
                <a:latin typeface="Calibri" pitchFamily="34" charset="0"/>
                <a:ea typeface="Calibri" pitchFamily="34" charset="-122"/>
                <a:cs typeface="Calibri" pitchFamily="34" charset="-120"/>
              </a:rPr>
              <a:t>   Open issues · Next steps</a:t>
            </a:r>
            <a:endParaRPr lang="en-US" sz="26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https://hackmd.io/CKyBxeRYQJ6SrkYPj3zUbw</a:t>
            </a:r>
            <a:endParaRPr lang="en-US" sz="1100" dirty="0"/>
          </a:p>
        </p:txBody>
      </p:sp>
      <p:sp>
        <p:nvSpPr>
          <p:cNvPr id="6" name="Text 4"/>
          <p:cNvSpPr txBox="1"/>
          <p:nvPr/>
        </p:nvSpPr>
        <p:spPr>
          <a:xfrm>
            <a:off x="457200" y="1417320"/>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Open issues</a:t>
            </a:r>
            <a:endParaRPr lang="en-US" sz="1400" dirty="0"/>
          </a:p>
        </p:txBody>
      </p:sp>
      <p:sp>
        <p:nvSpPr>
          <p:cNvPr id="7" name="Text 5"/>
          <p:cNvSpPr txBox="1"/>
          <p:nvPr/>
        </p:nvSpPr>
        <p:spPr>
          <a:xfrm>
            <a:off x="457200" y="1737360"/>
            <a:ext cx="11277295" cy="2011680"/>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The most contested class in draft USCDI v7 — opposed by Epic, Oracle Health, the EHR Association, AHA, FAH, and AQIPS.</a:t>
            </a:r>
            <a:endParaRPr lang="en-US" sz="1200" dirty="0"/>
          </a:p>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Systems do not support the </a:t>
            </a:r>
            <a:r>
              <a:rPr lang="en-US" sz="1200" dirty="0" err="1">
                <a:solidFill>
                  <a:srgbClr val="1F2933"/>
                </a:solidFill>
                <a:latin typeface="Calibri" pitchFamily="34" charset="0"/>
                <a:ea typeface="Calibri" pitchFamily="34" charset="-122"/>
                <a:cs typeface="Calibri" pitchFamily="34" charset="-120"/>
              </a:rPr>
              <a:t>AdverseEvent</a:t>
            </a:r>
            <a:r>
              <a:rPr lang="en-US" sz="1200" dirty="0">
                <a:solidFill>
                  <a:srgbClr val="1F2933"/>
                </a:solidFill>
                <a:latin typeface="Calibri" pitchFamily="34" charset="0"/>
                <a:ea typeface="Calibri" pitchFamily="34" charset="-122"/>
                <a:cs typeface="Calibri" pitchFamily="34" charset="-120"/>
              </a:rPr>
              <a:t> resource</a:t>
            </a:r>
          </a:p>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Systems record these as clinical events in the record – often as unstructured notes.</a:t>
            </a:r>
            <a:endParaRPr lang="en-US" sz="1200" dirty="0"/>
          </a:p>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The USCDI exclusion is a scope-of-exchange boundary, not an event-classification rule — the same incident can yield both USCDI clinical information and separate patient-safety work product.</a:t>
            </a:r>
          </a:p>
          <a:p>
            <a:pPr lvl="1">
              <a:spcAft>
                <a:spcPts val="400"/>
              </a:spcAft>
              <a:buSzPct val="100000"/>
            </a:pPr>
            <a:r>
              <a:rPr lang="en-US" sz="1200" i="1" dirty="0"/>
              <a:t>Exclusions: This data class does not include patient safety analyses, internal risk management documentation, or patient safety work product as defined under the Patient Safety and Quality Improvement Act of 2005 (42 U.S.C. 299b 21 et seq.) and implementing regulations (42 CFR part 3). It is not intended to define data elements for the exchange of Patient Safety Organization (PSO) investigations, safety reviews, or facility level reporting activities.</a:t>
            </a:r>
          </a:p>
          <a:p>
            <a:pPr marL="171450" indent="-171450">
              <a:spcAft>
                <a:spcPts val="400"/>
              </a:spcAft>
              <a:buSzPct val="100000"/>
              <a:buFont typeface="Arial" panose="020B0604020202020204" pitchFamily="34" charset="0"/>
              <a:buChar char="•"/>
            </a:pPr>
            <a:r>
              <a:rPr lang="en-US" sz="1200" dirty="0">
                <a:solidFill>
                  <a:srgbClr val="1F2933"/>
                </a:solidFill>
                <a:latin typeface="Calibri" pitchFamily="34" charset="0"/>
                <a:ea typeface="Calibri" pitchFamily="34" charset="-122"/>
                <a:cs typeface="Calibri" pitchFamily="34" charset="-120"/>
              </a:rPr>
              <a:t>Differences with US Quality Core</a:t>
            </a:r>
            <a:r>
              <a:rPr lang="en-US" sz="1200" i="1" dirty="0"/>
              <a:t>			</a:t>
            </a:r>
          </a:p>
          <a:p>
            <a:pPr marL="171450" indent="-171450">
              <a:spcAft>
                <a:spcPts val="400"/>
              </a:spcAft>
              <a:buSzPct val="100000"/>
              <a:buFont typeface="Arial" panose="020B0604020202020204" pitchFamily="34" charset="0"/>
              <a:buChar char="•"/>
            </a:pPr>
            <a:endParaRPr lang="en-US" sz="1200" i="1" dirty="0">
              <a:solidFill>
                <a:srgbClr val="1F2933"/>
              </a:solidFill>
              <a:latin typeface="Calibri" pitchFamily="34" charset="0"/>
              <a:ea typeface="Calibri" pitchFamily="34" charset="-122"/>
              <a:cs typeface="Calibri" pitchFamily="34" charset="-120"/>
            </a:endParaRPr>
          </a:p>
          <a:p>
            <a:pPr marL="228600" indent="-228600">
              <a:spcAft>
                <a:spcPts val="400"/>
              </a:spcAft>
              <a:buSzPct val="100000"/>
              <a:buChar char="•"/>
            </a:pPr>
            <a:endParaRPr lang="en-US" sz="1200" dirty="0">
              <a:solidFill>
                <a:srgbClr val="1F2933"/>
              </a:solidFill>
              <a:latin typeface="Calibri" pitchFamily="34" charset="0"/>
              <a:ea typeface="Calibri" pitchFamily="34" charset="-122"/>
              <a:cs typeface="Calibri" pitchFamily="34" charset="-120"/>
            </a:endParaRPr>
          </a:p>
          <a:p>
            <a:pPr marL="228600" indent="-228600">
              <a:spcAft>
                <a:spcPts val="400"/>
              </a:spcAft>
              <a:buSzPct val="100000"/>
              <a:buChar char="•"/>
            </a:pPr>
            <a:endParaRPr lang="en-US" sz="1200" dirty="0"/>
          </a:p>
        </p:txBody>
      </p:sp>
      <p:sp>
        <p:nvSpPr>
          <p:cNvPr id="8" name="Text 6"/>
          <p:cNvSpPr txBox="1"/>
          <p:nvPr/>
        </p:nvSpPr>
        <p:spPr>
          <a:xfrm>
            <a:off x="457200" y="4074160"/>
            <a:ext cx="11277295" cy="274320"/>
          </a:xfrm>
          <a:prstGeom prst="rect">
            <a:avLst/>
          </a:prstGeom>
          <a:noFill/>
          <a:ln/>
        </p:spPr>
        <p:txBody>
          <a:bodyPr wrap="square" lIns="0" tIns="0" rIns="0" bIns="0" rtlCol="0" anchor="b"/>
          <a:lstStyle/>
          <a:p>
            <a:pPr marL="0" indent="0">
              <a:buNone/>
            </a:pPr>
            <a:r>
              <a:rPr lang="en-US" sz="1400" dirty="0"/>
              <a:t>📅  </a:t>
            </a:r>
            <a:r>
              <a:rPr lang="en-US" sz="1400" b="1" dirty="0">
                <a:solidFill>
                  <a:srgbClr val="1F3A5F"/>
                </a:solidFill>
                <a:latin typeface="Calibri" pitchFamily="34" charset="0"/>
                <a:ea typeface="Calibri" pitchFamily="34" charset="-122"/>
                <a:cs typeface="Calibri" pitchFamily="34" charset="-120"/>
              </a:rPr>
              <a:t>Next steps</a:t>
            </a:r>
            <a:endParaRPr lang="en-US" sz="1400" dirty="0"/>
          </a:p>
        </p:txBody>
      </p:sp>
      <p:sp>
        <p:nvSpPr>
          <p:cNvPr id="9" name="Text 7"/>
          <p:cNvSpPr txBox="1"/>
          <p:nvPr/>
        </p:nvSpPr>
        <p:spPr>
          <a:xfrm>
            <a:off x="457200" y="4394200"/>
            <a:ext cx="11277295" cy="749808"/>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Review and finalize the list of profiles that carry the condition and the outcome.</a:t>
            </a:r>
            <a:endParaRPr lang="en-US" sz="1200" dirty="0"/>
          </a:p>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Draft guidance explaining that adverse events appear as ordinary clinical records.</a:t>
            </a:r>
            <a:endParaRPr lang="en-US" sz="1200" dirty="0"/>
          </a:p>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Align US Quality Core with US Core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Encounter Information — Appointment</a:t>
            </a:r>
            <a:endParaRPr lang="en-US" sz="26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https://hackmd.io/5VD6Yd4WQ5m929CrY7X3jw</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1313688"/>
        </p:xfrm>
        <a:graphic>
          <a:graphicData uri="http://schemas.openxmlformats.org/drawingml/2006/table">
            <a:tbl>
              <a:tblPr/>
              <a:tblGrid>
                <a:gridCol w="3931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150815">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 Element / USCDI Definition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Required Terminology</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Design Decision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98450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Appointment</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Scheduled healthcare event for a specific date/time.</a:t>
                      </a:r>
                      <a:endParaRPr lang="en-US" sz="1100" dirty="0">
                        <a:latin typeface="Calibri" charset="0"/>
                        <a:ea typeface="Calibri" charset="0"/>
                        <a:cs typeface="Calibri" charset="0"/>
                      </a:endParaRPr>
                    </a:p>
                    <a:p>
                      <a:pPr marL="0" indent="0" algn="l">
                        <a:buNone/>
                      </a:pPr>
                      <a:r>
                        <a:rPr lang="en-US" sz="1100" i="1" dirty="0">
                          <a:solidFill>
                            <a:srgbClr val="1F2933"/>
                          </a:solidFill>
                          <a:latin typeface="Calibri" pitchFamily="34" charset="0"/>
                          <a:ea typeface="Calibri" pitchFamily="34" charset="-122"/>
                          <a:cs typeface="Calibri" pitchFamily="34" charset="-120"/>
                        </a:rPr>
                        <a:t>Usage note: Appointment is used to schedule and coordinate healthcare services and participation and is distinct from an Encounter.</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Add a </a:t>
                      </a:r>
                      <a:r>
                        <a:rPr lang="en-US" sz="1100" b="1" dirty="0">
                          <a:solidFill>
                            <a:srgbClr val="B23A48"/>
                          </a:solidFill>
                          <a:latin typeface="Calibri" pitchFamily="34" charset="0"/>
                          <a:ea typeface="Calibri" pitchFamily="34" charset="-122"/>
                          <a:cs typeface="Calibri" pitchFamily="34" charset="-120"/>
                        </a:rPr>
                        <a:t>NEW</a:t>
                      </a:r>
                      <a:r>
                        <a:rPr lang="en-US" sz="1100" dirty="0">
                          <a:solidFill>
                            <a:srgbClr val="1F2933"/>
                          </a:solidFill>
                          <a:latin typeface="Calibri" pitchFamily="34" charset="0"/>
                          <a:ea typeface="Calibri" pitchFamily="34" charset="-122"/>
                          <a:cs typeface="Calibri" pitchFamily="34" charset="-120"/>
                        </a:rPr>
                        <a:t> </a:t>
                      </a:r>
                      <a:r>
                        <a:rPr lang="en-US" sz="1100" u="sng" dirty="0">
                          <a:solidFill>
                            <a:srgbClr val="1D4ED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US Core Appointment Profile</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Also add </a:t>
                      </a:r>
                      <a:r>
                        <a:rPr lang="en-US" sz="1000" dirty="0">
                          <a:solidFill>
                            <a:srgbClr val="1F2933"/>
                          </a:solidFill>
                          <a:highlight>
                            <a:srgbClr val="EEF1F5"/>
                          </a:highlight>
                          <a:latin typeface="Courier New" pitchFamily="34" charset="0"/>
                          <a:ea typeface="Courier New" pitchFamily="34" charset="-122"/>
                          <a:cs typeface="Courier New" pitchFamily="34" charset="-120"/>
                        </a:rPr>
                        <a:t>Encounter.appointment</a:t>
                      </a:r>
                      <a:r>
                        <a:rPr lang="en-US" sz="1100" dirty="0">
                          <a:solidFill>
                            <a:srgbClr val="1F2933"/>
                          </a:solidFill>
                          <a:latin typeface="Calibri" pitchFamily="34" charset="0"/>
                          <a:ea typeface="Calibri" pitchFamily="34" charset="-122"/>
                          <a:cs typeface="Calibri" pitchFamily="34" charset="-120"/>
                        </a:rPr>
                        <a:t> as a min = 0 </a:t>
                      </a:r>
                      <a:r>
                        <a:rPr lang="en-US" sz="1100" i="1" dirty="0">
                          <a:solidFill>
                            <a:srgbClr val="1F2933"/>
                          </a:solidFill>
                          <a:latin typeface="Calibri" pitchFamily="34" charset="0"/>
                          <a:ea typeface="Calibri" pitchFamily="34" charset="-122"/>
                          <a:cs typeface="Calibri" pitchFamily="34" charset="-120"/>
                        </a:rPr>
                        <a:t>Additional USCDI</a:t>
                      </a:r>
                      <a:r>
                        <a:rPr lang="en-US" sz="1100" dirty="0">
                          <a:solidFill>
                            <a:srgbClr val="1F2933"/>
                          </a:solidFill>
                          <a:latin typeface="Calibri" pitchFamily="34" charset="0"/>
                          <a:ea typeface="Calibri" pitchFamily="34" charset="-122"/>
                          <a:cs typeface="Calibri" pitchFamily="34" charset="-120"/>
                        </a:rPr>
                        <a:t> element to the US Core Encounter Profile.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7" name="Text 4"/>
          <p:cNvSpPr txBox="1"/>
          <p:nvPr/>
        </p:nvSpPr>
        <p:spPr>
          <a:xfrm>
            <a:off x="457200" y="2895600"/>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Open issues</a:t>
            </a:r>
            <a:endParaRPr lang="en-US" sz="1400" dirty="0"/>
          </a:p>
        </p:txBody>
      </p:sp>
      <p:sp>
        <p:nvSpPr>
          <p:cNvPr id="8" name="Text 5"/>
          <p:cNvSpPr txBox="1"/>
          <p:nvPr/>
        </p:nvSpPr>
        <p:spPr>
          <a:xfrm>
            <a:off x="457200" y="3215640"/>
            <a:ext cx="11277295" cy="987552"/>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Which </a:t>
            </a:r>
            <a:r>
              <a:rPr lang="en-US" sz="1100" dirty="0">
                <a:solidFill>
                  <a:srgbClr val="1F2933"/>
                </a:solidFill>
                <a:highlight>
                  <a:srgbClr val="EEF1F5"/>
                </a:highlight>
                <a:latin typeface="Courier New" pitchFamily="34" charset="0"/>
                <a:ea typeface="Courier New" pitchFamily="34" charset="-122"/>
                <a:cs typeface="Courier New" pitchFamily="34" charset="-120"/>
              </a:rPr>
              <a:t>Appointment.participant.actor</a:t>
            </a:r>
            <a:r>
              <a:rPr lang="en-US" sz="1200" dirty="0">
                <a:solidFill>
                  <a:srgbClr val="1F2933"/>
                </a:solidFill>
                <a:latin typeface="Calibri" pitchFamily="34" charset="0"/>
                <a:ea typeface="Calibri" pitchFamily="34" charset="-122"/>
                <a:cs typeface="Calibri" pitchFamily="34" charset="-120"/>
              </a:rPr>
              <a:t> targets are Must Support</a:t>
            </a:r>
            <a:endParaRPr lang="en-US" sz="1200" dirty="0"/>
          </a:p>
          <a:p>
            <a:pPr marL="228600" indent="-228600">
              <a:spcAft>
                <a:spcPts val="400"/>
              </a:spcAft>
              <a:buSzPct val="100000"/>
              <a:buChar char="•"/>
            </a:pPr>
            <a:r>
              <a:rPr lang="en-US" sz="1100" dirty="0">
                <a:solidFill>
                  <a:srgbClr val="1F2933"/>
                </a:solidFill>
                <a:highlight>
                  <a:srgbClr val="EEF1F5"/>
                </a:highlight>
                <a:latin typeface="Courier New" pitchFamily="34" charset="0"/>
                <a:ea typeface="Courier New" pitchFamily="34" charset="-122"/>
                <a:cs typeface="Courier New" pitchFamily="34" charset="-120"/>
              </a:rPr>
              <a:t>Appointment.serviceType</a:t>
            </a:r>
            <a:r>
              <a:rPr lang="en-US" sz="1200" dirty="0">
                <a:solidFill>
                  <a:srgbClr val="1F2933"/>
                </a:solidFill>
                <a:latin typeface="Calibri" pitchFamily="34" charset="0"/>
                <a:ea typeface="Calibri" pitchFamily="34" charset="-122"/>
                <a:cs typeface="Calibri" pitchFamily="34" charset="-120"/>
              </a:rPr>
              <a:t> has an </a:t>
            </a:r>
            <a:r>
              <a:rPr lang="en-US" sz="1200" i="1" dirty="0">
                <a:solidFill>
                  <a:srgbClr val="1F2933"/>
                </a:solidFill>
                <a:latin typeface="Calibri" pitchFamily="34" charset="0"/>
                <a:ea typeface="Calibri" pitchFamily="34" charset="-122"/>
                <a:cs typeface="Calibri" pitchFamily="34" charset="-120"/>
              </a:rPr>
              <a:t>example</a:t>
            </a:r>
            <a:r>
              <a:rPr lang="en-US" sz="1200" dirty="0">
                <a:solidFill>
                  <a:srgbClr val="1F2933"/>
                </a:solidFill>
                <a:latin typeface="Calibri" pitchFamily="34" charset="0"/>
                <a:ea typeface="Calibri" pitchFamily="34" charset="-122"/>
                <a:cs typeface="Calibri" pitchFamily="34" charset="-120"/>
              </a:rPr>
              <a:t> binding; guidance is needed that local service-catalog concepts are the norm.</a:t>
            </a:r>
            <a:endParaRPr lang="en-US" sz="1200" dirty="0"/>
          </a:p>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Search API</a:t>
            </a:r>
            <a:endParaRPr lang="en-US" sz="1200" dirty="0"/>
          </a:p>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Author Provenance</a:t>
            </a:r>
            <a:endParaRPr lang="en-US" sz="1200" dirty="0"/>
          </a:p>
        </p:txBody>
      </p:sp>
      <p:sp>
        <p:nvSpPr>
          <p:cNvPr id="9" name="Text 6"/>
          <p:cNvSpPr txBox="1"/>
          <p:nvPr/>
        </p:nvSpPr>
        <p:spPr>
          <a:xfrm>
            <a:off x="457200" y="4367784"/>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Next steps</a:t>
            </a:r>
            <a:endParaRPr lang="en-US" sz="1400" dirty="0"/>
          </a:p>
        </p:txBody>
      </p:sp>
      <p:sp>
        <p:nvSpPr>
          <p:cNvPr id="10" name="Text 7"/>
          <p:cNvSpPr txBox="1"/>
          <p:nvPr/>
        </p:nvSpPr>
        <p:spPr>
          <a:xfrm>
            <a:off x="457200" y="4687824"/>
            <a:ext cx="11277295" cy="274320"/>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Resolve the Must Support actor targets, search parameters, resource-level scopes (SHALL </a:t>
            </a:r>
            <a:r>
              <a:rPr lang="en-US" sz="1100" dirty="0">
                <a:solidFill>
                  <a:srgbClr val="1F2933"/>
                </a:solidFill>
                <a:highlight>
                  <a:srgbClr val="EEF1F5"/>
                </a:highlight>
                <a:latin typeface="Courier New" pitchFamily="34" charset="0"/>
                <a:ea typeface="Courier New" pitchFamily="34" charset="-122"/>
                <a:cs typeface="Courier New" pitchFamily="34" charset="-120"/>
              </a:rPr>
              <a:t>-rs</a:t>
            </a:r>
            <a:r>
              <a:rPr lang="en-US" sz="1200" dirty="0">
                <a:solidFill>
                  <a:srgbClr val="1F2933"/>
                </a:solidFill>
                <a:latin typeface="Calibri" pitchFamily="34" charset="0"/>
                <a:ea typeface="Calibri" pitchFamily="34" charset="-122"/>
                <a:cs typeface="Calibri" pitchFamily="34" charset="-120"/>
              </a:rPr>
              <a:t>), and Provenance questions.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300" b="1" dirty="0">
                <a:solidFill>
                  <a:srgbClr val="1F3A5F"/>
                </a:solidFill>
                <a:latin typeface="Cambria" pitchFamily="34" charset="0"/>
                <a:ea typeface="Cambria" pitchFamily="34" charset="-122"/>
                <a:cs typeface="Cambria" pitchFamily="34" charset="-120"/>
              </a:rPr>
              <a:t>Diagnostic Imaging — Diagnostic Imaging Reference</a:t>
            </a:r>
            <a:endParaRPr lang="en-US" sz="23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https://hackmd.io/CNYwm7OsQ7S4EBxct2yvkg</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771417381"/>
              </p:ext>
            </p:extLst>
          </p:nvPr>
        </p:nvGraphicFramePr>
        <p:xfrm>
          <a:off x="457200" y="1417320"/>
          <a:ext cx="11277295" cy="1917192"/>
        </p:xfrm>
        <a:graphic>
          <a:graphicData uri="http://schemas.openxmlformats.org/drawingml/2006/table">
            <a:tbl>
              <a:tblPr/>
              <a:tblGrid>
                <a:gridCol w="3931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150815">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 Element / USCDI Definition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Required Terminology</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Design Decision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115214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Diagnostic Imaging Reference</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The information that can be used to access a diagnostic imaging study. Examples include but are not limited to imaging study endpoint weblink, unique identifiers, and contextual information needed to retrieve a diagnostic imaging study.</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Add </a:t>
                      </a:r>
                    </a:p>
                    <a:p>
                      <a:pPr marL="0" indent="0" algn="l">
                        <a:buNone/>
                      </a:pPr>
                      <a:r>
                        <a:rPr lang="en-US" sz="1000" dirty="0" err="1">
                          <a:solidFill>
                            <a:srgbClr val="1F2933"/>
                          </a:solidFill>
                          <a:highlight>
                            <a:srgbClr val="EEF1F5"/>
                          </a:highlight>
                          <a:latin typeface="Courier New" pitchFamily="34" charset="0"/>
                          <a:ea typeface="Courier New" pitchFamily="34" charset="-122"/>
                          <a:cs typeface="Courier New" pitchFamily="34" charset="-120"/>
                        </a:rPr>
                        <a:t>DiagnosticReport.media.link</a:t>
                      </a:r>
                      <a:endParaRPr lang="en-US" sz="1100" dirty="0">
                        <a:solidFill>
                          <a:srgbClr val="1F2933"/>
                        </a:solidFill>
                        <a:highlight>
                          <a:srgbClr val="EEF1F5"/>
                        </a:highlight>
                        <a:latin typeface="Calibri" pitchFamily="34" charset="0"/>
                        <a:ea typeface="Courier New" pitchFamily="34" charset="-122"/>
                        <a:cs typeface="Calibri" pitchFamily="34" charset="-120"/>
                      </a:endParaRPr>
                    </a:p>
                    <a:p>
                      <a:pPr marL="0" indent="0" algn="l">
                        <a:buNone/>
                      </a:pPr>
                      <a:r>
                        <a:rPr lang="en-US" sz="1000" dirty="0" err="1">
                          <a:solidFill>
                            <a:srgbClr val="1F2933"/>
                          </a:solidFill>
                          <a:highlight>
                            <a:srgbClr val="EEF1F5"/>
                          </a:highlight>
                          <a:latin typeface="Courier New" pitchFamily="34" charset="0"/>
                          <a:ea typeface="Courier New" pitchFamily="34" charset="-122"/>
                          <a:cs typeface="Courier New" pitchFamily="34" charset="-120"/>
                        </a:rPr>
                        <a:t>DiagnosticReport.imagingStudy</a:t>
                      </a:r>
                      <a:endParaRPr lang="en-US" sz="1100" dirty="0">
                        <a:solidFill>
                          <a:srgbClr val="1F2933"/>
                        </a:solidFill>
                        <a:highlight>
                          <a:srgbClr val="EEF1F5"/>
                        </a:highlight>
                        <a:latin typeface="Calibri" pitchFamily="34" charset="0"/>
                        <a:ea typeface="Courier New" pitchFamily="34" charset="-122"/>
                        <a:cs typeface="Calibri" pitchFamily="34" charset="-120"/>
                      </a:endParaRPr>
                    </a:p>
                    <a:p>
                      <a:pPr marL="0" indent="0" algn="l">
                        <a:buNone/>
                      </a:pPr>
                      <a:r>
                        <a:rPr lang="en-US" sz="1000" dirty="0" err="1">
                          <a:solidFill>
                            <a:srgbClr val="1F2933"/>
                          </a:solidFill>
                          <a:highlight>
                            <a:srgbClr val="EEF1F5"/>
                          </a:highlight>
                          <a:latin typeface="Courier New" pitchFamily="34" charset="0"/>
                          <a:ea typeface="Courier New" pitchFamily="34" charset="-122"/>
                          <a:cs typeface="Courier New" pitchFamily="34" charset="-120"/>
                        </a:rPr>
                        <a:t>DiagnosticReport.identifier</a:t>
                      </a:r>
                      <a:r>
                        <a:rPr lang="en-US" sz="1100" dirty="0">
                          <a:solidFill>
                            <a:srgbClr val="1F2933"/>
                          </a:solidFill>
                          <a:latin typeface="Calibri" pitchFamily="34" charset="0"/>
                          <a:ea typeface="Calibri" pitchFamily="34" charset="-122"/>
                          <a:cs typeface="Calibri" pitchFamily="34" charset="-120"/>
                        </a:rPr>
                        <a:t>, and </a:t>
                      </a:r>
                    </a:p>
                    <a:p>
                      <a:pPr marL="0" indent="0" algn="l">
                        <a:buNone/>
                      </a:pPr>
                      <a:r>
                        <a:rPr lang="en-US" sz="1000" dirty="0" err="1">
                          <a:solidFill>
                            <a:srgbClr val="1F2933"/>
                          </a:solidFill>
                          <a:highlight>
                            <a:srgbClr val="EEF1F5"/>
                          </a:highlight>
                          <a:latin typeface="Courier New" pitchFamily="34" charset="0"/>
                          <a:ea typeface="Courier New" pitchFamily="34" charset="-122"/>
                          <a:cs typeface="Courier New" pitchFamily="34" charset="-120"/>
                        </a:rPr>
                        <a:t>ServiceRequest.identifier</a:t>
                      </a:r>
                      <a:r>
                        <a:rPr lang="en-US" sz="1100" dirty="0">
                          <a:solidFill>
                            <a:srgbClr val="1F2933"/>
                          </a:solidFill>
                          <a:latin typeface="Calibri" pitchFamily="34" charset="0"/>
                          <a:ea typeface="Calibri" pitchFamily="34" charset="-122"/>
                          <a:cs typeface="Calibri" pitchFamily="34" charset="-120"/>
                        </a:rPr>
                        <a:t> </a:t>
                      </a:r>
                    </a:p>
                    <a:p>
                      <a:pPr marL="0" indent="0" algn="l">
                        <a:buNone/>
                      </a:pPr>
                      <a:r>
                        <a:rPr lang="en-US" sz="1100" dirty="0">
                          <a:solidFill>
                            <a:srgbClr val="1F2933"/>
                          </a:solidFill>
                          <a:latin typeface="Calibri" pitchFamily="34" charset="0"/>
                          <a:ea typeface="Calibri" pitchFamily="34" charset="-122"/>
                          <a:cs typeface="Calibri" pitchFamily="34" charset="-120"/>
                        </a:rPr>
                        <a:t>as min = 0 </a:t>
                      </a:r>
                      <a:r>
                        <a:rPr lang="en-US" sz="1100" i="1" dirty="0">
                          <a:solidFill>
                            <a:srgbClr val="1F2933"/>
                          </a:solidFill>
                          <a:latin typeface="Calibri" pitchFamily="34" charset="0"/>
                          <a:ea typeface="Calibri" pitchFamily="34" charset="-122"/>
                          <a:cs typeface="Calibri" pitchFamily="34" charset="-120"/>
                        </a:rPr>
                        <a:t>Additional USCDI</a:t>
                      </a:r>
                      <a:r>
                        <a:rPr lang="en-US" sz="1100" dirty="0">
                          <a:solidFill>
                            <a:srgbClr val="1F2933"/>
                          </a:solidFill>
                          <a:latin typeface="Calibri" pitchFamily="34" charset="0"/>
                          <a:ea typeface="Calibri" pitchFamily="34" charset="-122"/>
                          <a:cs typeface="Calibri" pitchFamily="34" charset="-120"/>
                        </a:rPr>
                        <a:t> elements to the US Core DiagnosticReport Profile for Report and Note Exchange — </a:t>
                      </a:r>
                      <a:r>
                        <a:rPr lang="en-US" sz="1000" dirty="0">
                          <a:solidFill>
                            <a:srgbClr val="1F2933"/>
                          </a:solidFill>
                          <a:highlight>
                            <a:srgbClr val="EEF1F5"/>
                          </a:highlight>
                          <a:latin typeface="Courier New" pitchFamily="34" charset="0"/>
                          <a:ea typeface="Courier New" pitchFamily="34" charset="-122"/>
                          <a:cs typeface="Courier New" pitchFamily="34" charset="-120"/>
                        </a:rPr>
                        <a:t>media.link</a:t>
                      </a:r>
                      <a:r>
                        <a:rPr lang="en-US" sz="1100" dirty="0">
                          <a:solidFill>
                            <a:srgbClr val="1F2933"/>
                          </a:solidFill>
                          <a:latin typeface="Calibri" pitchFamily="34" charset="0"/>
                          <a:ea typeface="Calibri" pitchFamily="34" charset="-122"/>
                          <a:cs typeface="Calibri" pitchFamily="34" charset="-120"/>
                        </a:rPr>
                        <a:t> for patient-friendly content, </a:t>
                      </a:r>
                      <a:r>
                        <a:rPr lang="en-US" sz="1000" dirty="0">
                          <a:solidFill>
                            <a:srgbClr val="1F2933"/>
                          </a:solidFill>
                          <a:highlight>
                            <a:srgbClr val="EEF1F5"/>
                          </a:highlight>
                          <a:latin typeface="Courier New" pitchFamily="34" charset="0"/>
                          <a:ea typeface="Courier New" pitchFamily="34" charset="-122"/>
                          <a:cs typeface="Courier New" pitchFamily="34" charset="-120"/>
                        </a:rPr>
                        <a:t>imagingStudy</a:t>
                      </a:r>
                      <a:r>
                        <a:rPr lang="en-US" sz="1100" dirty="0">
                          <a:solidFill>
                            <a:srgbClr val="1F2933"/>
                          </a:solidFill>
                          <a:latin typeface="Calibri" pitchFamily="34" charset="0"/>
                          <a:ea typeface="Calibri" pitchFamily="34" charset="-122"/>
                          <a:cs typeface="Calibri" pitchFamily="34" charset="-120"/>
                        </a:rPr>
                        <a:t> for DICOM-capable systems, and the identifiers (for example accession numbers) for retrieval from external sources.</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7" name="Text 4"/>
          <p:cNvSpPr txBox="1"/>
          <p:nvPr/>
        </p:nvSpPr>
        <p:spPr>
          <a:xfrm>
            <a:off x="457200" y="3520440"/>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Open issues</a:t>
            </a:r>
            <a:endParaRPr lang="en-US" sz="1400" dirty="0"/>
          </a:p>
        </p:txBody>
      </p:sp>
      <p:sp>
        <p:nvSpPr>
          <p:cNvPr id="8" name="Text 5"/>
          <p:cNvSpPr txBox="1"/>
          <p:nvPr/>
        </p:nvSpPr>
        <p:spPr>
          <a:xfrm>
            <a:off x="457200" y="3840480"/>
            <a:ext cx="11277295" cy="1225296"/>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Access: New HL7 </a:t>
            </a:r>
            <a:r>
              <a:rPr lang="en-US" sz="1200" dirty="0">
                <a:solidFill>
                  <a:srgbClr val="1F2933"/>
                </a:solidFill>
                <a:latin typeface="Calibri" pitchFamily="34" charset="0"/>
                <a:ea typeface="Calibri" pitchFamily="34" charset="-122"/>
                <a:cs typeface="Calibri" pitchFamily="34" charset="-120"/>
                <a:hlinkClick r:id="rId4"/>
              </a:rPr>
              <a:t>PSS 2803</a:t>
            </a:r>
            <a:r>
              <a:rPr lang="en-US" sz="1200" dirty="0">
                <a:solidFill>
                  <a:srgbClr val="1F2933"/>
                </a:solidFill>
                <a:latin typeface="Calibri" pitchFamily="34" charset="0"/>
                <a:ea typeface="Calibri" pitchFamily="34" charset="-122"/>
                <a:cs typeface="Calibri" pitchFamily="34" charset="-120"/>
              </a:rPr>
              <a:t>  as a follow-up to </a:t>
            </a:r>
            <a:r>
              <a:rPr lang="en-US" sz="1200" u="sng" dirty="0">
                <a:solidFill>
                  <a:srgbClr val="1D4ED8"/>
                </a:solidFill>
                <a:latin typeface="Calibri" pitchFamily="34" charset="0"/>
                <a:ea typeface="Calibri" pitchFamily="34" charset="-122"/>
                <a:cs typeface="Calibri" pitchFamily="34" charset="-120"/>
                <a:hlinkClick r:id="rId5"/>
              </a:rPr>
              <a:t>Argonaut SMART Imaging Access</a:t>
            </a:r>
            <a:endParaRPr lang="en-US" sz="1200" dirty="0"/>
          </a:p>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Will define a lightweight </a:t>
            </a:r>
            <a:r>
              <a:rPr lang="en-US" sz="1200" u="sng" dirty="0">
                <a:solidFill>
                  <a:srgbClr val="1D4ED8"/>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US Core ImagingStudy Profile</a:t>
            </a:r>
            <a:endParaRPr lang="en-US" sz="1200" dirty="0"/>
          </a:p>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Server choice or support all three access routes (Vendor input pending)</a:t>
            </a:r>
            <a:endParaRPr lang="en-US" sz="1200" dirty="0"/>
          </a:p>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Profiling logical references (</a:t>
            </a:r>
            <a:r>
              <a:rPr lang="en-US" sz="1100" dirty="0">
                <a:solidFill>
                  <a:srgbClr val="1F2933"/>
                </a:solidFill>
                <a:highlight>
                  <a:srgbClr val="EEF1F5"/>
                </a:highlight>
                <a:latin typeface="Courier New" pitchFamily="34" charset="0"/>
                <a:ea typeface="Courier New" pitchFamily="34" charset="-122"/>
                <a:cs typeface="Courier New" pitchFamily="34" charset="-120"/>
              </a:rPr>
              <a:t>DiagnosticReport.imagingStudy.identifier</a:t>
            </a:r>
            <a:r>
              <a:rPr lang="en-US" sz="1200" dirty="0">
                <a:solidFill>
                  <a:srgbClr val="1F2933"/>
                </a:solidFill>
                <a:latin typeface="Calibri" pitchFamily="34" charset="0"/>
                <a:ea typeface="Calibri" pitchFamily="34" charset="-122"/>
                <a:cs typeface="Calibri" pitchFamily="34" charset="-120"/>
              </a:rPr>
              <a:t>)</a:t>
            </a:r>
            <a:endParaRPr lang="en-US" sz="1200" dirty="0"/>
          </a:p>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Search API requirements</a:t>
            </a:r>
            <a:endParaRPr lang="en-US" sz="1200" dirty="0"/>
          </a:p>
        </p:txBody>
      </p:sp>
      <p:sp>
        <p:nvSpPr>
          <p:cNvPr id="9" name="Text 6"/>
          <p:cNvSpPr txBox="1"/>
          <p:nvPr/>
        </p:nvSpPr>
        <p:spPr>
          <a:xfrm>
            <a:off x="457200" y="5230368"/>
            <a:ext cx="11277295" cy="274320"/>
          </a:xfrm>
          <a:prstGeom prst="rect">
            <a:avLst/>
          </a:prstGeom>
          <a:noFill/>
          <a:ln/>
        </p:spPr>
        <p:txBody>
          <a:bodyPr wrap="square" lIns="0" tIns="0" rIns="0" bIns="0" rtlCol="0" anchor="b"/>
          <a:lstStyle/>
          <a:p>
            <a:pPr marL="0" indent="0">
              <a:buNone/>
            </a:pPr>
            <a:r>
              <a:rPr lang="en-US" sz="1400" dirty="0"/>
              <a:t>📅  </a:t>
            </a:r>
            <a:r>
              <a:rPr lang="en-US" sz="1400" b="1" dirty="0">
                <a:solidFill>
                  <a:srgbClr val="1F3A5F"/>
                </a:solidFill>
                <a:latin typeface="Calibri" pitchFamily="34" charset="0"/>
                <a:ea typeface="Calibri" pitchFamily="34" charset="-122"/>
                <a:cs typeface="Calibri" pitchFamily="34" charset="-120"/>
              </a:rPr>
              <a:t>Next steps</a:t>
            </a:r>
            <a:endParaRPr lang="en-US" sz="1400" dirty="0"/>
          </a:p>
        </p:txBody>
      </p:sp>
      <p:sp>
        <p:nvSpPr>
          <p:cNvPr id="10" name="Text 7"/>
          <p:cNvSpPr txBox="1"/>
          <p:nvPr/>
        </p:nvSpPr>
        <p:spPr>
          <a:xfrm>
            <a:off x="457200" y="5550408"/>
            <a:ext cx="11277295" cy="454152"/>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Resume design work to work out all the open issues and details</a:t>
            </a:r>
          </a:p>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Align US Quality Core to US Core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Care Team Members — Healthcare Agent</a:t>
            </a:r>
            <a:endParaRPr lang="en-US" sz="26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https://hackmd.io/5VanJRHKQ12dIPtS-16hWQ</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2276670040"/>
              </p:ext>
            </p:extLst>
          </p:nvPr>
        </p:nvGraphicFramePr>
        <p:xfrm>
          <a:off x="457200" y="1417320"/>
          <a:ext cx="11277295" cy="1764792"/>
        </p:xfrm>
        <a:graphic>
          <a:graphicData uri="http://schemas.openxmlformats.org/drawingml/2006/table">
            <a:tbl>
              <a:tblPr/>
              <a:tblGrid>
                <a:gridCol w="3931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150815">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 Element / USCDI Definition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Required Terminology</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Design Decision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131978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Healthcare Agent</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Person legally authorized to make healthcare decisions on behalf of a patient when the patient is unable to do so because of an illness or injury.</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Map to:</a:t>
                      </a:r>
                    </a:p>
                    <a:p>
                      <a:pPr marL="171450" indent="-171450" algn="l">
                        <a:buFont typeface="Arial" panose="020B0604020202020204" pitchFamily="34" charset="0"/>
                        <a:buChar char="•"/>
                      </a:pPr>
                      <a:r>
                        <a:rPr lang="en-US" sz="1000" dirty="0" err="1">
                          <a:solidFill>
                            <a:srgbClr val="1F2933"/>
                          </a:solidFill>
                          <a:highlight>
                            <a:srgbClr val="EEF1F5"/>
                          </a:highlight>
                          <a:latin typeface="Courier New" pitchFamily="34" charset="0"/>
                          <a:ea typeface="Courier New" pitchFamily="34" charset="-122"/>
                          <a:cs typeface="Courier New" pitchFamily="34" charset="-120"/>
                        </a:rPr>
                        <a:t>CareTeam.participant.role</a:t>
                      </a:r>
                      <a:r>
                        <a:rPr lang="en-US" sz="1100" dirty="0">
                          <a:solidFill>
                            <a:srgbClr val="1F2933"/>
                          </a:solidFill>
                          <a:latin typeface="Calibri" pitchFamily="34" charset="0"/>
                          <a:ea typeface="Calibri" pitchFamily="34" charset="-122"/>
                          <a:cs typeface="Calibri" pitchFamily="34" charset="-120"/>
                        </a:rPr>
                        <a:t> and </a:t>
                      </a:r>
                    </a:p>
                    <a:p>
                      <a:pPr marL="171450" indent="-171450" algn="l">
                        <a:buFont typeface="Arial" panose="020B0604020202020204" pitchFamily="34" charset="0"/>
                        <a:buChar char="•"/>
                      </a:pPr>
                      <a:r>
                        <a:rPr lang="en-US" sz="1000" dirty="0" err="1">
                          <a:solidFill>
                            <a:srgbClr val="1F2933"/>
                          </a:solidFill>
                          <a:highlight>
                            <a:srgbClr val="EEF1F5"/>
                          </a:highlight>
                          <a:latin typeface="Courier New" pitchFamily="34" charset="0"/>
                          <a:ea typeface="Courier New" pitchFamily="34" charset="-122"/>
                          <a:cs typeface="Courier New" pitchFamily="34" charset="-120"/>
                        </a:rPr>
                        <a:t>RelatedPerson.relationship</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 CareTeam: add LOINC </a:t>
                      </a:r>
                      <a:r>
                        <a:rPr lang="en-US" sz="1100" b="1" dirty="0">
                          <a:solidFill>
                            <a:srgbClr val="1F2933"/>
                          </a:solidFill>
                          <a:latin typeface="Calibri" pitchFamily="34" charset="0"/>
                          <a:ea typeface="Calibri" pitchFamily="34" charset="-122"/>
                          <a:cs typeface="Calibri" pitchFamily="34" charset="-120"/>
                        </a:rPr>
                        <a:t>81335-2</a:t>
                      </a:r>
                      <a:r>
                        <a:rPr lang="en-US" sz="1100" dirty="0">
                          <a:solidFill>
                            <a:srgbClr val="1F2933"/>
                          </a:solidFill>
                          <a:latin typeface="Calibri" pitchFamily="34" charset="0"/>
                          <a:ea typeface="Calibri" pitchFamily="34" charset="-122"/>
                          <a:cs typeface="Calibri" pitchFamily="34" charset="-120"/>
                        </a:rPr>
                        <a:t> (Patient healthcare agent) to VSAC's Care Team Member Function value set</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 RelatedPerson: use </a:t>
                      </a:r>
                      <a:r>
                        <a:rPr lang="en-US" sz="1100" b="1" dirty="0">
                          <a:solidFill>
                            <a:srgbClr val="1F2933"/>
                          </a:solidFill>
                          <a:latin typeface="Calibri" pitchFamily="34" charset="0"/>
                          <a:ea typeface="Calibri" pitchFamily="34" charset="-122"/>
                          <a:cs typeface="Calibri" pitchFamily="34" charset="-120"/>
                        </a:rPr>
                        <a:t>DPOWATT</a:t>
                      </a:r>
                      <a:r>
                        <a:rPr lang="en-US" sz="1100" dirty="0">
                          <a:solidFill>
                            <a:srgbClr val="1F2933"/>
                          </a:solidFill>
                          <a:latin typeface="Calibri" pitchFamily="34" charset="0"/>
                          <a:ea typeface="Calibri" pitchFamily="34" charset="-122"/>
                          <a:cs typeface="Calibri" pitchFamily="34" charset="-120"/>
                        </a:rPr>
                        <a:t> (durable power of attorney) or </a:t>
                      </a:r>
                      <a:r>
                        <a:rPr lang="en-US" sz="1100" b="1" dirty="0">
                          <a:solidFill>
                            <a:srgbClr val="1F2933"/>
                          </a:solidFill>
                          <a:latin typeface="Calibri" pitchFamily="34" charset="0"/>
                          <a:ea typeface="Calibri" pitchFamily="34" charset="-122"/>
                          <a:cs typeface="Calibri" pitchFamily="34" charset="-120"/>
                        </a:rPr>
                        <a:t>HPOWATT</a:t>
                      </a:r>
                      <a:r>
                        <a:rPr lang="en-US" sz="1100" dirty="0">
                          <a:solidFill>
                            <a:srgbClr val="1F2933"/>
                          </a:solidFill>
                          <a:latin typeface="Calibri" pitchFamily="34" charset="0"/>
                          <a:ea typeface="Calibri" pitchFamily="34" charset="-122"/>
                          <a:cs typeface="Calibri" pitchFamily="34" charset="-120"/>
                        </a:rPr>
                        <a:t> (healthcare power of attorney) from </a:t>
                      </a:r>
                      <a:r>
                        <a:rPr lang="en-US" sz="1100" u="sng" dirty="0">
                          <a:solidFill>
                            <a:srgbClr val="1D4ED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Personal And Legal Relationship Role Type</a:t>
                      </a:r>
                      <a:r>
                        <a:rPr lang="en-US" sz="1100" dirty="0">
                          <a:solidFill>
                            <a:srgbClr val="1F2933"/>
                          </a:solidFill>
                          <a:latin typeface="Calibri" pitchFamily="34" charset="0"/>
                          <a:ea typeface="Calibri" pitchFamily="34" charset="-122"/>
                          <a:cs typeface="Calibri" pitchFamily="34" charset="-120"/>
                        </a:rPr>
                        <a:t>, and point readers to the </a:t>
                      </a:r>
                      <a:r>
                        <a:rPr lang="en-US" sz="1100" u="sng" dirty="0">
                          <a:solidFill>
                            <a:srgbClr val="1D4ED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PACIO ADI PACP guidance</a:t>
                      </a:r>
                      <a:r>
                        <a:rPr lang="en-US" sz="1100" dirty="0">
                          <a:solidFill>
                            <a:srgbClr val="1F2933"/>
                          </a:solidFill>
                          <a:latin typeface="Calibri" pitchFamily="34" charset="0"/>
                          <a:ea typeface="Calibri" pitchFamily="34" charset="-122"/>
                          <a:cs typeface="Calibri" pitchFamily="34" charset="-120"/>
                        </a:rPr>
                        <a:t> and the </a:t>
                      </a:r>
                      <a:r>
                        <a:rPr lang="en-US" sz="1100" u="sng" dirty="0">
                          <a:solidFill>
                            <a:srgbClr val="1D4ED8"/>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ADI Healthcare Agent Participant profile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7" name="Text 4"/>
          <p:cNvSpPr txBox="1"/>
          <p:nvPr/>
        </p:nvSpPr>
        <p:spPr>
          <a:xfrm>
            <a:off x="457200" y="3230880"/>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Open issues</a:t>
            </a:r>
            <a:endParaRPr lang="en-US" sz="1400" dirty="0"/>
          </a:p>
        </p:txBody>
      </p:sp>
      <p:sp>
        <p:nvSpPr>
          <p:cNvPr id="8" name="Text 5"/>
          <p:cNvSpPr txBox="1"/>
          <p:nvPr/>
        </p:nvSpPr>
        <p:spPr>
          <a:xfrm>
            <a:off x="457200" y="3550920"/>
            <a:ext cx="11277295" cy="749808"/>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Terminology: Use a single code in both the US Core CareTeam and RelatedPerson profiles instead of the three proposed codes.</a:t>
            </a:r>
            <a:endParaRPr lang="en-US" sz="1200" dirty="0"/>
          </a:p>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Strengthening the Personal and Legal Relationship Role Type binding from </a:t>
            </a:r>
            <a:r>
              <a:rPr lang="en-US" sz="1200" i="1" dirty="0">
                <a:solidFill>
                  <a:srgbClr val="1F2933"/>
                </a:solidFill>
                <a:latin typeface="Calibri" pitchFamily="34" charset="0"/>
                <a:ea typeface="Calibri" pitchFamily="34" charset="-122"/>
                <a:cs typeface="Calibri" pitchFamily="34" charset="-120"/>
              </a:rPr>
              <a:t>preferred</a:t>
            </a:r>
            <a:r>
              <a:rPr lang="en-US" sz="1200" dirty="0">
                <a:solidFill>
                  <a:srgbClr val="1F2933"/>
                </a:solidFill>
                <a:latin typeface="Calibri" pitchFamily="34" charset="0"/>
                <a:ea typeface="Calibri" pitchFamily="34" charset="-122"/>
                <a:cs typeface="Calibri" pitchFamily="34" charset="-120"/>
              </a:rPr>
              <a:t> to </a:t>
            </a:r>
            <a:r>
              <a:rPr lang="en-US" sz="1200" i="1" dirty="0">
                <a:solidFill>
                  <a:srgbClr val="1F2933"/>
                </a:solidFill>
                <a:latin typeface="Calibri" pitchFamily="34" charset="0"/>
                <a:ea typeface="Calibri" pitchFamily="34" charset="-122"/>
                <a:cs typeface="Calibri" pitchFamily="34" charset="-120"/>
              </a:rPr>
              <a:t>extensible</a:t>
            </a:r>
            <a:r>
              <a:rPr lang="en-US" sz="1200" dirty="0">
                <a:solidFill>
                  <a:srgbClr val="1F2933"/>
                </a:solidFill>
                <a:latin typeface="Calibri" pitchFamily="34" charset="0"/>
                <a:ea typeface="Calibri" pitchFamily="34" charset="-122"/>
                <a:cs typeface="Calibri" pitchFamily="34" charset="-120"/>
              </a:rPr>
              <a:t>.</a:t>
            </a:r>
            <a:endParaRPr lang="en-US" sz="1200" dirty="0"/>
          </a:p>
          <a:p>
            <a:pPr marL="228600" indent="-228600">
              <a:spcAft>
                <a:spcPts val="400"/>
              </a:spcAft>
              <a:buSzPct val="100000"/>
              <a:buChar char="•"/>
            </a:pPr>
            <a:r>
              <a:rPr lang="en-US" sz="1100" dirty="0">
                <a:solidFill>
                  <a:srgbClr val="1F2933"/>
                </a:solidFill>
                <a:highlight>
                  <a:srgbClr val="EEF1F5"/>
                </a:highlight>
                <a:latin typeface="Courier New" pitchFamily="34" charset="0"/>
                <a:ea typeface="Courier New" pitchFamily="34" charset="-122"/>
                <a:cs typeface="Courier New" pitchFamily="34" charset="-120"/>
              </a:rPr>
              <a:t>Patient.contact</a:t>
            </a:r>
            <a:r>
              <a:rPr lang="en-US" sz="1200" dirty="0">
                <a:solidFill>
                  <a:srgbClr val="1F2933"/>
                </a:solidFill>
                <a:latin typeface="Calibri" pitchFamily="34" charset="0"/>
                <a:ea typeface="Calibri" pitchFamily="34" charset="-122"/>
                <a:cs typeface="Calibri" pitchFamily="34" charset="-120"/>
              </a:rPr>
              <a:t> vs. </a:t>
            </a:r>
            <a:r>
              <a:rPr lang="en-US" sz="1100" dirty="0">
                <a:solidFill>
                  <a:srgbClr val="1F2933"/>
                </a:solidFill>
                <a:highlight>
                  <a:srgbClr val="EEF1F5"/>
                </a:highlight>
                <a:latin typeface="Courier New" pitchFamily="34" charset="0"/>
                <a:ea typeface="Courier New" pitchFamily="34" charset="-122"/>
                <a:cs typeface="Courier New" pitchFamily="34" charset="-120"/>
              </a:rPr>
              <a:t>RelatedPerson</a:t>
            </a:r>
            <a:r>
              <a:rPr lang="en-US" sz="1200" dirty="0">
                <a:solidFill>
                  <a:srgbClr val="1F2933"/>
                </a:solidFill>
                <a:latin typeface="Calibri" pitchFamily="34" charset="0"/>
                <a:ea typeface="Calibri" pitchFamily="34" charset="-122"/>
                <a:cs typeface="Calibri" pitchFamily="34" charset="-120"/>
              </a:rPr>
              <a:t> overlap in practice – is guidance needed?</a:t>
            </a:r>
            <a:endParaRPr lang="en-US" sz="1200" dirty="0"/>
          </a:p>
        </p:txBody>
      </p:sp>
      <p:sp>
        <p:nvSpPr>
          <p:cNvPr id="9" name="Text 6"/>
          <p:cNvSpPr txBox="1"/>
          <p:nvPr/>
        </p:nvSpPr>
        <p:spPr>
          <a:xfrm>
            <a:off x="457200" y="4465320"/>
            <a:ext cx="11277295" cy="274320"/>
          </a:xfrm>
          <a:prstGeom prst="rect">
            <a:avLst/>
          </a:prstGeom>
          <a:noFill/>
          <a:ln/>
        </p:spPr>
        <p:txBody>
          <a:bodyPr wrap="square" lIns="0" tIns="0" rIns="0" bIns="0" rtlCol="0" anchor="b"/>
          <a:lstStyle/>
          <a:p>
            <a:r>
              <a:rPr lang="en-US" sz="1400" b="1" dirty="0">
                <a:solidFill>
                  <a:srgbClr val="1F3A5F"/>
                </a:solidFill>
                <a:latin typeface="Calibri" pitchFamily="34" charset="0"/>
                <a:ea typeface="Calibri" pitchFamily="34" charset="-122"/>
                <a:cs typeface="Calibri" pitchFamily="34" charset="-120"/>
              </a:rPr>
              <a:t> </a:t>
            </a:r>
            <a:r>
              <a:rPr lang="en-US" sz="1400" dirty="0"/>
              <a:t>📅 </a:t>
            </a:r>
            <a:r>
              <a:rPr lang="en-US" sz="1400" b="1" dirty="0">
                <a:solidFill>
                  <a:srgbClr val="1F3A5F"/>
                </a:solidFill>
                <a:latin typeface="Calibri" pitchFamily="34" charset="0"/>
                <a:ea typeface="Calibri" pitchFamily="34" charset="-122"/>
                <a:cs typeface="Calibri" pitchFamily="34" charset="-120"/>
              </a:rPr>
              <a:t> Next steps</a:t>
            </a:r>
            <a:endParaRPr lang="en-US" sz="1400" dirty="0"/>
          </a:p>
        </p:txBody>
      </p:sp>
      <p:sp>
        <p:nvSpPr>
          <p:cNvPr id="10" name="Text 7"/>
          <p:cNvSpPr txBox="1"/>
          <p:nvPr/>
        </p:nvSpPr>
        <p:spPr>
          <a:xfrm>
            <a:off x="457200" y="4785360"/>
            <a:ext cx="11277295" cy="512064"/>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Vendors to review of currently used role codes</a:t>
            </a:r>
            <a:endParaRPr lang="en-US" sz="1200" dirty="0"/>
          </a:p>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Settle the code set and binding strength with PACIO team</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Medications</a:t>
            </a:r>
            <a:endParaRPr lang="en-US" sz="26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https://hackmd.io/2654oTa6R7CNK1T-CsKvdQ</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2298192"/>
        </p:xfrm>
        <a:graphic>
          <a:graphicData uri="http://schemas.openxmlformats.org/drawingml/2006/table">
            <a:tbl>
              <a:tblPr/>
              <a:tblGrid>
                <a:gridCol w="3931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150815">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 Element / USCDI Definition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Required Terminology</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Design Decision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98450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Medication Administration</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Information about the event of a patient consuming or otherwise being given a medication. Examples include but are not limited to date and time a patient ingested a tablet and who administered an injection.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Add a </a:t>
                      </a:r>
                      <a:r>
                        <a:rPr lang="en-US" sz="1100" b="1" dirty="0">
                          <a:solidFill>
                            <a:srgbClr val="B23A48"/>
                          </a:solidFill>
                          <a:latin typeface="Calibri" pitchFamily="34" charset="0"/>
                          <a:ea typeface="Calibri" pitchFamily="34" charset="-122"/>
                          <a:cs typeface="Calibri" pitchFamily="34" charset="-120"/>
                        </a:rPr>
                        <a:t>NEW</a:t>
                      </a:r>
                      <a:r>
                        <a:rPr lang="en-US" sz="1100" dirty="0">
                          <a:solidFill>
                            <a:srgbClr val="1F2933"/>
                          </a:solidFill>
                          <a:latin typeface="Calibri" pitchFamily="34" charset="0"/>
                          <a:ea typeface="Calibri" pitchFamily="34" charset="-122"/>
                          <a:cs typeface="Calibri" pitchFamily="34" charset="-120"/>
                        </a:rPr>
                        <a:t> </a:t>
                      </a:r>
                      <a:r>
                        <a:rPr lang="en-US" sz="1100" u="sng" dirty="0">
                          <a:solidFill>
                            <a:srgbClr val="1D4ED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US Core MedicationAdministration Profile</a:t>
                      </a:r>
                      <a:r>
                        <a:rPr lang="en-US" sz="1100" dirty="0">
                          <a:solidFill>
                            <a:srgbClr val="1F2933"/>
                          </a:solidFill>
                          <a:latin typeface="Calibri" pitchFamily="34" charset="0"/>
                          <a:ea typeface="Calibri" pitchFamily="34" charset="-122"/>
                          <a:cs typeface="Calibri" pitchFamily="34" charset="-120"/>
                        </a:rPr>
                        <a:t>, with the same medication terminology as MedicationRequest/MedicationDispense, plus the reason-not-performed elements </a:t>
                      </a:r>
                      <a:r>
                        <a:rPr lang="en-US" sz="1000" dirty="0">
                          <a:solidFill>
                            <a:srgbClr val="1F2933"/>
                          </a:solidFill>
                          <a:highlight>
                            <a:srgbClr val="EEF1F5"/>
                          </a:highlight>
                          <a:latin typeface="Courier New" pitchFamily="34" charset="0"/>
                          <a:ea typeface="Courier New" pitchFamily="34" charset="-122"/>
                          <a:cs typeface="Courier New" pitchFamily="34" charset="-120"/>
                        </a:rPr>
                        <a:t>.statusReason</a:t>
                      </a:r>
                      <a:r>
                        <a:rPr lang="en-US" sz="1100" dirty="0">
                          <a:solidFill>
                            <a:srgbClr val="1F2933"/>
                          </a:solidFill>
                          <a:latin typeface="Calibri" pitchFamily="34" charset="0"/>
                          <a:ea typeface="Calibri" pitchFamily="34" charset="-122"/>
                          <a:cs typeface="Calibri" pitchFamily="34" charset="-120"/>
                        </a:rPr>
                        <a:t> and </a:t>
                      </a:r>
                      <a:r>
                        <a:rPr lang="en-US" sz="1000" dirty="0">
                          <a:solidFill>
                            <a:srgbClr val="1F2933"/>
                          </a:solidFill>
                          <a:highlight>
                            <a:srgbClr val="EEF1F5"/>
                          </a:highlight>
                          <a:latin typeface="Courier New" pitchFamily="34" charset="0"/>
                          <a:ea typeface="Courier New" pitchFamily="34" charset="-122"/>
                          <a:cs typeface="Courier New" pitchFamily="34" charset="-120"/>
                        </a:rPr>
                        <a:t>.effective[x]</a:t>
                      </a:r>
                      <a:r>
                        <a:rPr lang="en-US" sz="1100" dirty="0">
                          <a:solidFill>
                            <a:srgbClr val="1F2933"/>
                          </a:solidFill>
                          <a:latin typeface="Calibri" pitchFamily="34" charset="0"/>
                          <a:ea typeface="Calibri" pitchFamily="34" charset="-122"/>
                          <a:cs typeface="Calibri" pitchFamily="34" charset="-120"/>
                        </a:rPr>
                        <a:t>. Author Provenance = </a:t>
                      </a:r>
                      <a:r>
                        <a:rPr lang="en-US" sz="1000" dirty="0">
                          <a:solidFill>
                            <a:srgbClr val="1F2933"/>
                          </a:solidFill>
                          <a:highlight>
                            <a:srgbClr val="EEF1F5"/>
                          </a:highlight>
                          <a:latin typeface="Courier New" pitchFamily="34" charset="0"/>
                          <a:ea typeface="Courier New" pitchFamily="34" charset="-122"/>
                          <a:cs typeface="Courier New" pitchFamily="34" charset="-120"/>
                        </a:rPr>
                        <a:t>MedicationAdministration.performer.actor</a:t>
                      </a:r>
                      <a:r>
                        <a:rPr lang="en-US" sz="1100" dirty="0">
                          <a:solidFill>
                            <a:srgbClr val="1F29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8450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Medication Dispense Quantity</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Quantity of medication dispensed and requested to be dispensed. Examples include but are not limited to 480 mL of oral solution dispensed to a patient and 30 tablets ordered to be dispensed by a pharmacy.</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No change</a:t>
                      </a:r>
                      <a:r>
                        <a:rPr lang="en-US" sz="1100" dirty="0">
                          <a:solidFill>
                            <a:srgbClr val="1F2933"/>
                          </a:solidFill>
                          <a:latin typeface="Calibri" pitchFamily="34" charset="0"/>
                          <a:ea typeface="Calibri" pitchFamily="34" charset="-122"/>
                          <a:cs typeface="Calibri" pitchFamily="34" charset="-120"/>
                        </a:rPr>
                        <a:t> — </a:t>
                      </a:r>
                      <a:r>
                        <a:rPr lang="en-US" sz="1000" dirty="0">
                          <a:solidFill>
                            <a:srgbClr val="1F2933"/>
                          </a:solidFill>
                          <a:highlight>
                            <a:srgbClr val="EEF1F5"/>
                          </a:highlight>
                          <a:latin typeface="Courier New" pitchFamily="34" charset="0"/>
                          <a:ea typeface="Courier New" pitchFamily="34" charset="-122"/>
                          <a:cs typeface="Courier New" pitchFamily="34" charset="-120"/>
                        </a:rPr>
                        <a:t>MedicationRequest.dispenseRequest.quantity</a:t>
                      </a:r>
                      <a:r>
                        <a:rPr lang="en-US" sz="1100" dirty="0">
                          <a:solidFill>
                            <a:srgbClr val="1F2933"/>
                          </a:solidFill>
                          <a:latin typeface="Calibri" pitchFamily="34" charset="0"/>
                          <a:ea typeface="Calibri" pitchFamily="34" charset="-122"/>
                          <a:cs typeface="Calibri" pitchFamily="34" charset="-120"/>
                        </a:rPr>
                        <a:t> and </a:t>
                      </a:r>
                      <a:r>
                        <a:rPr lang="en-US" sz="1000" dirty="0">
                          <a:solidFill>
                            <a:srgbClr val="1F2933"/>
                          </a:solidFill>
                          <a:highlight>
                            <a:srgbClr val="EEF1F5"/>
                          </a:highlight>
                          <a:latin typeface="Courier New" pitchFamily="34" charset="0"/>
                          <a:ea typeface="Courier New" pitchFamily="34" charset="-122"/>
                          <a:cs typeface="Courier New" pitchFamily="34" charset="-120"/>
                        </a:rPr>
                        <a:t>MedicationDispense.quantity</a:t>
                      </a:r>
                      <a:r>
                        <a:rPr lang="en-US" sz="1100" dirty="0">
                          <a:solidFill>
                            <a:srgbClr val="1F2933"/>
                          </a:solidFill>
                          <a:latin typeface="Calibri" pitchFamily="34" charset="0"/>
                          <a:ea typeface="Calibri" pitchFamily="34" charset="-122"/>
                          <a:cs typeface="Calibri" pitchFamily="34" charset="-120"/>
                        </a:rPr>
                        <a:t> are already Must Support.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bl>
          </a:graphicData>
        </a:graphic>
      </p:graphicFrame>
      <p:sp>
        <p:nvSpPr>
          <p:cNvPr id="7" name="Text 4"/>
          <p:cNvSpPr txBox="1"/>
          <p:nvPr/>
        </p:nvSpPr>
        <p:spPr>
          <a:xfrm>
            <a:off x="457200" y="3880104"/>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Open issues</a:t>
            </a:r>
            <a:endParaRPr lang="en-US" sz="1400" dirty="0"/>
          </a:p>
        </p:txBody>
      </p:sp>
      <p:sp>
        <p:nvSpPr>
          <p:cNvPr id="8" name="Text 5"/>
          <p:cNvSpPr txBox="1"/>
          <p:nvPr/>
        </p:nvSpPr>
        <p:spPr>
          <a:xfrm>
            <a:off x="457200" y="4200144"/>
            <a:ext cx="11277295" cy="945896"/>
          </a:xfrm>
          <a:prstGeom prst="rect">
            <a:avLst/>
          </a:prstGeom>
          <a:noFill/>
          <a:ln/>
        </p:spPr>
        <p:txBody>
          <a:bodyPr wrap="square" lIns="0" tIns="0" rIns="0" bIns="0" rtlCol="0" anchor="t"/>
          <a:lstStyle/>
          <a:p>
            <a:pPr marL="228600" indent="-228600">
              <a:spcAft>
                <a:spcPts val="400"/>
              </a:spcAft>
              <a:buSzPct val="100000"/>
              <a:buFontTx/>
              <a:buChar char="•"/>
            </a:pPr>
            <a:r>
              <a:rPr lang="en-US" sz="1200" b="1" dirty="0">
                <a:solidFill>
                  <a:srgbClr val="1F2933"/>
                </a:solidFill>
                <a:latin typeface="Calibri" pitchFamily="34" charset="0"/>
                <a:ea typeface="Calibri" pitchFamily="34" charset="-122"/>
                <a:cs typeface="Calibri" pitchFamily="34" charset="-120"/>
              </a:rPr>
              <a:t>Medication Administration</a:t>
            </a:r>
            <a:endParaRPr lang="en-US" sz="1200" dirty="0">
              <a:latin typeface="Calibri" charset="0"/>
              <a:ea typeface="Calibri" charset="0"/>
              <a:cs typeface="Calibri" charset="0"/>
            </a:endParaRPr>
          </a:p>
          <a:p>
            <a:pPr marL="685800" lvl="1"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Search API</a:t>
            </a:r>
            <a:endParaRPr lang="en-US" sz="1200" dirty="0"/>
          </a:p>
          <a:p>
            <a:pPr marL="685800" lvl="1"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Scope: Provider-administered events vs. patient self-reported</a:t>
            </a:r>
          </a:p>
          <a:p>
            <a:pPr marL="228600" indent="-228600">
              <a:spcAft>
                <a:spcPts val="400"/>
              </a:spcAft>
              <a:buSzPct val="100000"/>
              <a:buFontTx/>
              <a:buChar char="•"/>
            </a:pPr>
            <a:r>
              <a:rPr lang="en-US" sz="1200" b="1" dirty="0">
                <a:solidFill>
                  <a:srgbClr val="1F2933"/>
                </a:solidFill>
                <a:latin typeface="Calibri" pitchFamily="34" charset="0"/>
                <a:ea typeface="Calibri" pitchFamily="34" charset="-122"/>
                <a:cs typeface="Calibri" pitchFamily="34" charset="-120"/>
              </a:rPr>
              <a:t>Medication Dispense Quantity - </a:t>
            </a:r>
            <a:r>
              <a:rPr lang="en-US" sz="1200" dirty="0">
                <a:solidFill>
                  <a:srgbClr val="1F2933"/>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p>
            <a:pPr marL="228600" indent="-228600">
              <a:spcAft>
                <a:spcPts val="400"/>
              </a:spcAft>
              <a:buSzPct val="100000"/>
              <a:buChar char="•"/>
            </a:pPr>
            <a:endParaRPr lang="en-US" sz="1200" dirty="0"/>
          </a:p>
        </p:txBody>
      </p:sp>
      <p:sp>
        <p:nvSpPr>
          <p:cNvPr id="9" name="Text 6"/>
          <p:cNvSpPr txBox="1"/>
          <p:nvPr/>
        </p:nvSpPr>
        <p:spPr>
          <a:xfrm>
            <a:off x="457200" y="5191760"/>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Next steps</a:t>
            </a:r>
            <a:endParaRPr lang="en-US" sz="1400" dirty="0"/>
          </a:p>
        </p:txBody>
      </p:sp>
      <p:sp>
        <p:nvSpPr>
          <p:cNvPr id="10" name="Text 7"/>
          <p:cNvSpPr txBox="1"/>
          <p:nvPr/>
        </p:nvSpPr>
        <p:spPr>
          <a:xfrm>
            <a:off x="457200" y="5511800"/>
            <a:ext cx="11277295" cy="512064"/>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Settle the search API, scopes, and provenance details</a:t>
            </a:r>
          </a:p>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Edit the Medication List guidance page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Patient Demographics / Information</a:t>
            </a:r>
            <a:endParaRPr lang="en-US" sz="26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https://hackmd.io/VoQgkVxsQsKmBRei3Oxi4Q</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038615277"/>
              </p:ext>
            </p:extLst>
          </p:nvPr>
        </p:nvGraphicFramePr>
        <p:xfrm>
          <a:off x="457200" y="1417320"/>
          <a:ext cx="11277295" cy="2612136"/>
        </p:xfrm>
        <a:graphic>
          <a:graphicData uri="http://schemas.openxmlformats.org/drawingml/2006/table">
            <a:tbl>
              <a:tblPr/>
              <a:tblGrid>
                <a:gridCol w="3931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150815">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 Element / USCDI Definition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Required Terminology</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Design Decision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98450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Accommodation</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Supports and services necessary to access care, including modifications, tools, and technologies. Examples include but are not limited to sign language interpreters, wheelchair accessibility requirements, and sensory accommodation.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Narrowed to </a:t>
                      </a:r>
                      <a:r>
                        <a:rPr lang="en-US" sz="1100" b="1" dirty="0">
                          <a:solidFill>
                            <a:srgbClr val="1F2933"/>
                          </a:solidFill>
                          <a:latin typeface="Calibri" pitchFamily="34" charset="0"/>
                          <a:ea typeface="Calibri" pitchFamily="34" charset="-122"/>
                          <a:cs typeface="Calibri" pitchFamily="34" charset="-120"/>
                        </a:rPr>
                        <a:t>two Observation options</a:t>
                      </a:r>
                      <a:r>
                        <a:rPr lang="en-US" sz="1100" dirty="0">
                          <a:solidFill>
                            <a:srgbClr val="1F2933"/>
                          </a:solidFill>
                          <a:latin typeface="Calibri" pitchFamily="34" charset="0"/>
                          <a:ea typeface="Calibri" pitchFamily="34" charset="-122"/>
                          <a:cs typeface="Calibri" pitchFamily="34" charset="-120"/>
                        </a:rPr>
                        <a:t>: </a:t>
                      </a:r>
                    </a:p>
                    <a:p>
                      <a:pPr marL="228600" indent="-228600" algn="l">
                        <a:buAutoNum type="arabicParenR"/>
                      </a:pPr>
                      <a:r>
                        <a:rPr lang="en-US" sz="1100" dirty="0">
                          <a:solidFill>
                            <a:srgbClr val="1F2933"/>
                          </a:solidFill>
                          <a:latin typeface="Calibri" pitchFamily="34" charset="0"/>
                          <a:ea typeface="Calibri" pitchFamily="34" charset="-122"/>
                          <a:cs typeface="Calibri" pitchFamily="34" charset="-120"/>
                        </a:rPr>
                        <a:t>a </a:t>
                      </a:r>
                      <a:r>
                        <a:rPr lang="en-US" sz="1100" b="1" dirty="0">
                          <a:solidFill>
                            <a:srgbClr val="B23A48"/>
                          </a:solidFill>
                          <a:latin typeface="Calibri" pitchFamily="34" charset="0"/>
                          <a:ea typeface="Calibri" pitchFamily="34" charset="-122"/>
                          <a:cs typeface="Calibri" pitchFamily="34" charset="-120"/>
                        </a:rPr>
                        <a:t>NEW</a:t>
                      </a:r>
                      <a:r>
                        <a:rPr lang="en-US" sz="1100" dirty="0">
                          <a:solidFill>
                            <a:srgbClr val="1F2933"/>
                          </a:solidFill>
                          <a:latin typeface="Calibri" pitchFamily="34" charset="0"/>
                          <a:ea typeface="Calibri" pitchFamily="34" charset="-122"/>
                          <a:cs typeface="Calibri" pitchFamily="34" charset="-120"/>
                        </a:rPr>
                        <a:t> </a:t>
                      </a:r>
                      <a:r>
                        <a:rPr lang="en-US" sz="1100" u="sng" dirty="0">
                          <a:solidFill>
                            <a:srgbClr val="1D4ED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US Core Accommodation Observation Profile</a:t>
                      </a:r>
                      <a:r>
                        <a:rPr lang="en-US" sz="1100" dirty="0">
                          <a:solidFill>
                            <a:srgbClr val="1F2933"/>
                          </a:solidFill>
                          <a:latin typeface="Calibri" pitchFamily="34" charset="0"/>
                          <a:ea typeface="Calibri" pitchFamily="34" charset="-122"/>
                          <a:cs typeface="Calibri" pitchFamily="34" charset="-120"/>
                        </a:rPr>
                        <a:t>, or </a:t>
                      </a:r>
                    </a:p>
                    <a:p>
                      <a:pPr marL="228600" indent="-228600" algn="l">
                        <a:buAutoNum type="arabicParenR"/>
                      </a:pPr>
                      <a:r>
                        <a:rPr lang="en-US" sz="1100" dirty="0">
                          <a:solidFill>
                            <a:srgbClr val="1F2933"/>
                          </a:solidFill>
                          <a:latin typeface="Calibri" pitchFamily="34" charset="0"/>
                          <a:ea typeface="Calibri" pitchFamily="34" charset="-122"/>
                          <a:cs typeface="Calibri" pitchFamily="34" charset="-120"/>
                        </a:rPr>
                        <a:t>Use the existing Assessments framework with the US Core Simple Observation Profile and a new "accommodation" category.  </a:t>
                      </a:r>
                    </a:p>
                    <a:p>
                      <a:pPr marL="0" indent="0" algn="l">
                        <a:buNone/>
                      </a:pPr>
                      <a:r>
                        <a:rPr lang="en-US" sz="1100" dirty="0">
                          <a:solidFill>
                            <a:srgbClr val="1F2933"/>
                          </a:solidFill>
                          <a:latin typeface="Calibri" pitchFamily="34" charset="0"/>
                          <a:ea typeface="Calibri" pitchFamily="34" charset="-122"/>
                          <a:cs typeface="Calibri" pitchFamily="34" charset="-120"/>
                        </a:rPr>
                        <a:t>Add guidance that no terminology standard exists; free text is the real-world practice.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158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Deceased Indicator</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Indicates if the person is deceased or not.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No change</a:t>
                      </a:r>
                      <a:r>
                        <a:rPr lang="en-US" sz="1100" dirty="0">
                          <a:solidFill>
                            <a:srgbClr val="1F2933"/>
                          </a:solidFill>
                          <a:latin typeface="Calibri" pitchFamily="34" charset="0"/>
                          <a:ea typeface="Calibri" pitchFamily="34" charset="-122"/>
                          <a:cs typeface="Calibri" pitchFamily="34" charset="-120"/>
                        </a:rPr>
                        <a:t> — </a:t>
                      </a:r>
                      <a:r>
                        <a:rPr lang="en-US" sz="1000" dirty="0">
                          <a:solidFill>
                            <a:srgbClr val="1F2933"/>
                          </a:solidFill>
                          <a:highlight>
                            <a:srgbClr val="EEF1F5"/>
                          </a:highlight>
                          <a:latin typeface="Courier New" pitchFamily="34" charset="0"/>
                          <a:ea typeface="Courier New" pitchFamily="34" charset="-122"/>
                          <a:cs typeface="Courier New" pitchFamily="34" charset="-120"/>
                        </a:rPr>
                        <a:t>Patient.deceased[x]</a:t>
                      </a:r>
                      <a:r>
                        <a:rPr lang="en-US" sz="1100" dirty="0">
                          <a:solidFill>
                            <a:srgbClr val="1F2933"/>
                          </a:solidFill>
                          <a:latin typeface="Calibri" pitchFamily="34" charset="0"/>
                          <a:ea typeface="Calibri" pitchFamily="34" charset="-122"/>
                          <a:cs typeface="Calibri" pitchFamily="34" charset="-120"/>
                        </a:rPr>
                        <a:t> is already an </a:t>
                      </a:r>
                      <a:r>
                        <a:rPr lang="en-US" sz="1100" i="1" dirty="0">
                          <a:solidFill>
                            <a:srgbClr val="1F2933"/>
                          </a:solidFill>
                          <a:latin typeface="Calibri" pitchFamily="34" charset="0"/>
                          <a:ea typeface="Calibri" pitchFamily="34" charset="-122"/>
                          <a:cs typeface="Calibri" pitchFamily="34" charset="-120"/>
                        </a:rPr>
                        <a:t>Additional USCDI</a:t>
                      </a:r>
                      <a:r>
                        <a:rPr lang="en-US" sz="1100" dirty="0">
                          <a:solidFill>
                            <a:srgbClr val="1F2933"/>
                          </a:solidFill>
                          <a:latin typeface="Calibri" pitchFamily="34" charset="0"/>
                          <a:ea typeface="Calibri" pitchFamily="34" charset="-122"/>
                          <a:cs typeface="Calibri" pitchFamily="34" charset="-120"/>
                        </a:rPr>
                        <a:t> element.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81686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Patient Identifier</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Sequence of characters assigned by an organization to refer to a patient. Examples include but are not limited to Medical Record Number.</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No change</a:t>
                      </a:r>
                      <a:r>
                        <a:rPr lang="en-US" sz="1100" dirty="0">
                          <a:solidFill>
                            <a:srgbClr val="1F2933"/>
                          </a:solidFill>
                          <a:latin typeface="Calibri" pitchFamily="34" charset="0"/>
                          <a:ea typeface="Calibri" pitchFamily="34" charset="-122"/>
                          <a:cs typeface="Calibri" pitchFamily="34" charset="-120"/>
                        </a:rPr>
                        <a:t> — </a:t>
                      </a:r>
                      <a:r>
                        <a:rPr lang="en-US" sz="1000" dirty="0">
                          <a:solidFill>
                            <a:srgbClr val="1F2933"/>
                          </a:solidFill>
                          <a:highlight>
                            <a:srgbClr val="EEF1F5"/>
                          </a:highlight>
                          <a:latin typeface="Courier New" pitchFamily="34" charset="0"/>
                          <a:ea typeface="Courier New" pitchFamily="34" charset="-122"/>
                          <a:cs typeface="Courier New" pitchFamily="34" charset="-120"/>
                        </a:rPr>
                        <a:t>Patient.identifier</a:t>
                      </a:r>
                      <a:r>
                        <a:rPr lang="en-US" sz="1100" dirty="0">
                          <a:solidFill>
                            <a:srgbClr val="1F2933"/>
                          </a:solidFill>
                          <a:latin typeface="Calibri" pitchFamily="34" charset="0"/>
                          <a:ea typeface="Calibri" pitchFamily="34" charset="-122"/>
                          <a:cs typeface="Calibri" pitchFamily="34" charset="-120"/>
                        </a:rPr>
                        <a:t> is already Must Support.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txBox="1"/>
          <p:nvPr/>
        </p:nvSpPr>
        <p:spPr>
          <a:xfrm>
            <a:off x="457200" y="4194048"/>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Open issues</a:t>
            </a:r>
            <a:endParaRPr lang="en-US" sz="1400" dirty="0"/>
          </a:p>
        </p:txBody>
      </p:sp>
      <p:sp>
        <p:nvSpPr>
          <p:cNvPr id="8" name="Text 5"/>
          <p:cNvSpPr txBox="1"/>
          <p:nvPr/>
        </p:nvSpPr>
        <p:spPr>
          <a:xfrm>
            <a:off x="457200" y="4514088"/>
            <a:ext cx="11277295" cy="1098296"/>
          </a:xfrm>
          <a:prstGeom prst="rect">
            <a:avLst/>
          </a:prstGeom>
          <a:noFill/>
          <a:ln/>
        </p:spPr>
        <p:txBody>
          <a:bodyPr wrap="square" lIns="0" tIns="0" rIns="0" bIns="0" rtlCol="0" anchor="t"/>
          <a:lstStyle/>
          <a:p>
            <a:pPr marL="228600" indent="-228600">
              <a:spcAft>
                <a:spcPts val="400"/>
              </a:spcAft>
              <a:buSzPct val="100000"/>
              <a:buFontTx/>
              <a:buChar char="•"/>
            </a:pPr>
            <a:r>
              <a:rPr lang="en-US" sz="1200" b="1" dirty="0">
                <a:solidFill>
                  <a:srgbClr val="1F2933"/>
                </a:solidFill>
                <a:latin typeface="Calibri" pitchFamily="34" charset="0"/>
                <a:ea typeface="Calibri" pitchFamily="34" charset="-122"/>
                <a:cs typeface="Calibri" pitchFamily="34" charset="-120"/>
              </a:rPr>
              <a:t>Accommodation</a:t>
            </a:r>
            <a:endParaRPr lang="en-US" sz="1200" dirty="0">
              <a:latin typeface="Calibri" charset="0"/>
              <a:ea typeface="Calibri" charset="0"/>
              <a:cs typeface="Calibri" charset="0"/>
            </a:endParaRPr>
          </a:p>
          <a:p>
            <a:pPr marL="685800" lvl="1"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Accommodation conflates with disability; disability status overlaps with the USCDI/US Core SDOH assessments.</a:t>
            </a:r>
            <a:endParaRPr lang="en-US" sz="1200" dirty="0"/>
          </a:p>
          <a:p>
            <a:pPr marL="685800" lvl="1"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Trade-off between a one-off Observation profile and reuse of Simple Observation within the Assessments framework.</a:t>
            </a:r>
          </a:p>
          <a:p>
            <a:pPr marL="228600" indent="-228600">
              <a:spcAft>
                <a:spcPts val="400"/>
              </a:spcAft>
              <a:buSzPct val="100000"/>
              <a:buFontTx/>
              <a:buChar char="•"/>
            </a:pPr>
            <a:r>
              <a:rPr lang="en-US" sz="1200" b="1" dirty="0">
                <a:solidFill>
                  <a:srgbClr val="1F2933"/>
                </a:solidFill>
                <a:latin typeface="Calibri" pitchFamily="34" charset="0"/>
                <a:ea typeface="Calibri" pitchFamily="34" charset="-122"/>
                <a:cs typeface="Calibri" pitchFamily="34" charset="-120"/>
              </a:rPr>
              <a:t>Deceased Indicator - </a:t>
            </a:r>
            <a:r>
              <a:rPr lang="en-US" sz="1200" dirty="0">
                <a:solidFill>
                  <a:srgbClr val="1F2933"/>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p>
            <a:pPr marL="228600" indent="-228600">
              <a:spcAft>
                <a:spcPts val="400"/>
              </a:spcAft>
              <a:buSzPct val="100000"/>
              <a:buFontTx/>
              <a:buChar char="•"/>
            </a:pPr>
            <a:r>
              <a:rPr lang="en-US" sz="1200" b="1" dirty="0">
                <a:solidFill>
                  <a:srgbClr val="1F2933"/>
                </a:solidFill>
                <a:latin typeface="Calibri" pitchFamily="34" charset="0"/>
                <a:ea typeface="Calibri" pitchFamily="34" charset="-122"/>
                <a:cs typeface="Calibri" pitchFamily="34" charset="-120"/>
              </a:rPr>
              <a:t>Patient Identifier - </a:t>
            </a:r>
            <a:r>
              <a:rPr lang="en-US" sz="1200" dirty="0">
                <a:solidFill>
                  <a:srgbClr val="1F2933"/>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p>
            <a:pPr marL="228600" indent="-228600">
              <a:spcAft>
                <a:spcPts val="400"/>
              </a:spcAft>
              <a:buSzPct val="100000"/>
              <a:buChar char="•"/>
            </a:pPr>
            <a:endParaRPr lang="en-US" sz="1200" dirty="0"/>
          </a:p>
        </p:txBody>
      </p:sp>
      <p:sp>
        <p:nvSpPr>
          <p:cNvPr id="9" name="Text 6"/>
          <p:cNvSpPr txBox="1"/>
          <p:nvPr/>
        </p:nvSpPr>
        <p:spPr>
          <a:xfrm>
            <a:off x="457200" y="5658104"/>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Next steps</a:t>
            </a:r>
            <a:endParaRPr lang="en-US" sz="1400" dirty="0"/>
          </a:p>
        </p:txBody>
      </p:sp>
      <p:sp>
        <p:nvSpPr>
          <p:cNvPr id="10" name="Text 7"/>
          <p:cNvSpPr txBox="1"/>
          <p:nvPr/>
        </p:nvSpPr>
        <p:spPr>
          <a:xfrm>
            <a:off x="457200" y="5978144"/>
            <a:ext cx="11277295" cy="274320"/>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Choose between the two Observation options.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Orders</a:t>
            </a:r>
            <a:endParaRPr lang="en-US" sz="26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https://hackmd.io/2c5wMyJaSRORwN5F-F5CAQ</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773390480"/>
              </p:ext>
            </p:extLst>
          </p:nvPr>
        </p:nvGraphicFramePr>
        <p:xfrm>
          <a:off x="457200" y="1417320"/>
          <a:ext cx="11277295" cy="3450336"/>
        </p:xfrm>
        <a:graphic>
          <a:graphicData uri="http://schemas.openxmlformats.org/drawingml/2006/table">
            <a:tbl>
              <a:tblPr/>
              <a:tblGrid>
                <a:gridCol w="3931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150815">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 Element / USCDI Definition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Required Terminology</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Design Decision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98450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Medical Device Order</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Provider-authored request for medical devices. Examples include but are not limited to pacemaker, home blood pressure monitor, therapeutic footwear, insulin infusion pump, and CPAP machine.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Add a </a:t>
                      </a:r>
                      <a:r>
                        <a:rPr lang="en-US" sz="1100" b="1" dirty="0">
                          <a:solidFill>
                            <a:srgbClr val="B23A48"/>
                          </a:solidFill>
                          <a:latin typeface="Calibri" pitchFamily="34" charset="0"/>
                          <a:ea typeface="Calibri" pitchFamily="34" charset="-122"/>
                          <a:cs typeface="Calibri" pitchFamily="34" charset="-120"/>
                        </a:rPr>
                        <a:t>NEW</a:t>
                      </a:r>
                      <a:r>
                        <a:rPr lang="en-US" sz="1100" dirty="0">
                          <a:solidFill>
                            <a:srgbClr val="1F2933"/>
                          </a:solidFill>
                          <a:latin typeface="Calibri" pitchFamily="34" charset="0"/>
                          <a:ea typeface="Calibri" pitchFamily="34" charset="-122"/>
                          <a:cs typeface="Calibri" pitchFamily="34" charset="-120"/>
                        </a:rPr>
                        <a:t> </a:t>
                      </a:r>
                      <a:r>
                        <a:rPr lang="en-US" sz="1100" u="sng" dirty="0">
                          <a:solidFill>
                            <a:srgbClr val="1D4ED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US Core DeviceRequest Profile</a:t>
                      </a:r>
                      <a:r>
                        <a:rPr lang="en-US" sz="1100" dirty="0">
                          <a:solidFill>
                            <a:srgbClr val="1F2933"/>
                          </a:solidFill>
                          <a:latin typeface="Calibri" pitchFamily="34" charset="0"/>
                          <a:ea typeface="Calibri" pitchFamily="34" charset="-122"/>
                          <a:cs typeface="Calibri" pitchFamily="34" charset="-120"/>
                        </a:rPr>
                        <a:t>. Search API modeled on ServiceRequest, resource-level scopes and individual-level provenance = requester. Add an implementation bullet noting ServiceRequest or MedicationRequest may be used instead depending on context.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5214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Nutrition Order</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Provider-authored request for therapeutic diet, nutrition support, and nutrition to promote and maintain health. Examples include but are not limited to NPO, cardiac diet, Mediterranean diet, low FODMAP diet, whole food diet, clear liquid diet, enteral nutrition, and nutritional supplement.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Add a </a:t>
                      </a:r>
                      <a:r>
                        <a:rPr lang="en-US" sz="1100" b="1" dirty="0">
                          <a:solidFill>
                            <a:srgbClr val="B23A48"/>
                          </a:solidFill>
                          <a:latin typeface="Calibri" pitchFamily="34" charset="0"/>
                          <a:ea typeface="Calibri" pitchFamily="34" charset="-122"/>
                          <a:cs typeface="Calibri" pitchFamily="34" charset="-120"/>
                        </a:rPr>
                        <a:t>NEW</a:t>
                      </a:r>
                      <a:r>
                        <a:rPr lang="en-US" sz="1100" dirty="0">
                          <a:solidFill>
                            <a:srgbClr val="1F2933"/>
                          </a:solidFill>
                          <a:latin typeface="Calibri" pitchFamily="34" charset="0"/>
                          <a:ea typeface="Calibri" pitchFamily="34" charset="-122"/>
                          <a:cs typeface="Calibri" pitchFamily="34" charset="-120"/>
                        </a:rPr>
                        <a:t> </a:t>
                      </a:r>
                      <a:r>
                        <a:rPr lang="en-US" sz="1100" u="sng" dirty="0">
                          <a:solidFill>
                            <a:srgbClr val="1D4ED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US Core NutritionOrder Profile</a:t>
                      </a:r>
                      <a:r>
                        <a:rPr lang="en-US" sz="1100" dirty="0">
                          <a:solidFill>
                            <a:srgbClr val="1F2933"/>
                          </a:solidFill>
                          <a:latin typeface="Calibri" pitchFamily="34" charset="0"/>
                          <a:ea typeface="Calibri" pitchFamily="34" charset="-122"/>
                          <a:cs typeface="Calibri" pitchFamily="34" charset="-120"/>
                        </a:rPr>
                        <a:t>. Search API modeled on ServiceRequest, resource-level scopes and individual-level provenance = orderer.</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98450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Referral Order</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Provider-authored request to another provider, specialist, or organization for care services. Examples include but are not limited to referral orders to a wound care specialist, housing services, and skilled nursing facility.</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 (binding left unconstrained, as for Procedure Order)</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Update the US Core ServiceRequest Profile: add category code </a:t>
                      </a:r>
                      <a:r>
                        <a:rPr lang="en-US" sz="1100" b="1" dirty="0">
                          <a:solidFill>
                            <a:srgbClr val="1F2933"/>
                          </a:solidFill>
                          <a:latin typeface="Calibri" pitchFamily="34" charset="0"/>
                          <a:ea typeface="Calibri" pitchFamily="34" charset="-122"/>
                          <a:cs typeface="Calibri" pitchFamily="34" charset="-120"/>
                        </a:rPr>
                        <a:t>3457005</a:t>
                      </a:r>
                      <a:r>
                        <a:rPr lang="en-US" sz="1100" dirty="0">
                          <a:solidFill>
                            <a:srgbClr val="1F2933"/>
                          </a:solidFill>
                          <a:latin typeface="Calibri" pitchFamily="34" charset="0"/>
                          <a:ea typeface="Calibri" pitchFamily="34" charset="-122"/>
                          <a:cs typeface="Calibri" pitchFamily="34" charset="-120"/>
                        </a:rPr>
                        <a:t> (Patient referral (procedure)) to the ServiceRequest category table, and state that the Referral Order </a:t>
                      </a:r>
                      <a:r>
                        <a:rPr lang="en-US" sz="1000" dirty="0">
                          <a:solidFill>
                            <a:srgbClr val="1F2933"/>
                          </a:solidFill>
                          <a:highlight>
                            <a:srgbClr val="EEF1F5"/>
                          </a:highlight>
                          <a:latin typeface="Courier New" pitchFamily="34" charset="0"/>
                          <a:ea typeface="Courier New" pitchFamily="34" charset="-122"/>
                          <a:cs typeface="Courier New" pitchFamily="34" charset="-120"/>
                        </a:rPr>
                        <a:t>code</a:t>
                      </a:r>
                      <a:r>
                        <a:rPr lang="en-US" sz="1100" dirty="0">
                          <a:solidFill>
                            <a:srgbClr val="1F2933"/>
                          </a:solidFill>
                          <a:latin typeface="Calibri" pitchFamily="34" charset="0"/>
                          <a:ea typeface="Calibri" pitchFamily="34" charset="-122"/>
                          <a:cs typeface="Calibri" pitchFamily="34" charset="-120"/>
                        </a:rPr>
                        <a:t> binding is unconstrained.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Orders</a:t>
            </a:r>
            <a:r>
              <a:rPr lang="en-US" sz="1300" i="1" dirty="0">
                <a:solidFill>
                  <a:srgbClr val="6B7280"/>
                </a:solidFill>
                <a:latin typeface="Calibri" pitchFamily="34" charset="0"/>
                <a:ea typeface="Calibri" pitchFamily="34" charset="-122"/>
                <a:cs typeface="Calibri" pitchFamily="34" charset="-120"/>
              </a:rPr>
              <a:t>   Open issues · Next steps</a:t>
            </a:r>
            <a:endParaRPr lang="en-US" sz="26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https://hackmd.io/2c5wMyJaSRORwN5F-F5CAQ</a:t>
            </a:r>
            <a:endParaRPr lang="en-US" sz="1100" dirty="0"/>
          </a:p>
        </p:txBody>
      </p:sp>
      <p:sp>
        <p:nvSpPr>
          <p:cNvPr id="6" name="Text 4"/>
          <p:cNvSpPr txBox="1"/>
          <p:nvPr/>
        </p:nvSpPr>
        <p:spPr>
          <a:xfrm>
            <a:off x="457200" y="1417320"/>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Open issues</a:t>
            </a:r>
            <a:endParaRPr lang="en-US" sz="1400" dirty="0"/>
          </a:p>
        </p:txBody>
      </p:sp>
      <p:sp>
        <p:nvSpPr>
          <p:cNvPr id="7" name="Text 5"/>
          <p:cNvSpPr txBox="1"/>
          <p:nvPr/>
        </p:nvSpPr>
        <p:spPr>
          <a:xfrm>
            <a:off x="457200" y="1737360"/>
            <a:ext cx="11277295" cy="2313432"/>
          </a:xfrm>
          <a:prstGeom prst="rect">
            <a:avLst/>
          </a:prstGeom>
          <a:noFill/>
          <a:ln/>
        </p:spPr>
        <p:txBody>
          <a:bodyPr wrap="square" lIns="0" tIns="0" rIns="0" bIns="0" rtlCol="0" anchor="t"/>
          <a:lstStyle/>
          <a:p>
            <a:pPr marL="228600" indent="-228600">
              <a:spcAft>
                <a:spcPts val="400"/>
              </a:spcAft>
              <a:buSzPct val="100000"/>
              <a:buFontTx/>
              <a:buChar char="•"/>
            </a:pPr>
            <a:r>
              <a:rPr lang="en-US" sz="1100" b="1" dirty="0">
                <a:solidFill>
                  <a:srgbClr val="1F2933"/>
                </a:solidFill>
                <a:latin typeface="Calibri" pitchFamily="34" charset="0"/>
                <a:ea typeface="Calibri" pitchFamily="34" charset="-122"/>
                <a:cs typeface="Calibri" pitchFamily="34" charset="-120"/>
              </a:rPr>
              <a:t>Medical Device Order</a:t>
            </a:r>
            <a:endParaRPr lang="en-US" sz="1100" b="1" dirty="0">
              <a:latin typeface="Calibri" charset="0"/>
              <a:ea typeface="Calibri" pitchFamily="34" charset="-122"/>
              <a:cs typeface="Calibri" charset="0"/>
            </a:endParaRPr>
          </a:p>
          <a:p>
            <a:pPr marL="685800" lvl="1" indent="-228600">
              <a:spcAft>
                <a:spcPts val="400"/>
              </a:spcAft>
              <a:buSzPct val="100000"/>
              <a:buFontTx/>
              <a:buChar char="•"/>
            </a:pPr>
            <a:r>
              <a:rPr lang="en-US" sz="1100" dirty="0" err="1">
                <a:solidFill>
                  <a:srgbClr val="1F2933"/>
                </a:solidFill>
                <a:highlight>
                  <a:srgbClr val="EEF1F5"/>
                </a:highlight>
                <a:latin typeface="Courier New" pitchFamily="34" charset="0"/>
                <a:ea typeface="Courier New" pitchFamily="34" charset="-122"/>
                <a:cs typeface="Courier New" pitchFamily="34" charset="-120"/>
              </a:rPr>
              <a:t>DeviceRequest.code</a:t>
            </a:r>
            <a:r>
              <a:rPr lang="en-US" sz="1100" dirty="0">
                <a:solidFill>
                  <a:srgbClr val="1F2933"/>
                </a:solidFill>
                <a:highlight>
                  <a:srgbClr val="EEF1F5"/>
                </a:highlight>
                <a:latin typeface="Courier New" pitchFamily="34" charset="0"/>
                <a:ea typeface="Courier New" pitchFamily="34" charset="-122"/>
                <a:cs typeface="Courier New" pitchFamily="34" charset="-120"/>
              </a:rPr>
              <a:t>[x]</a:t>
            </a:r>
            <a:r>
              <a:rPr lang="en-US" sz="1200" dirty="0">
                <a:solidFill>
                  <a:srgbClr val="1F2933"/>
                </a:solidFill>
                <a:latin typeface="Calibri" pitchFamily="34" charset="0"/>
                <a:ea typeface="Calibri" pitchFamily="34" charset="-122"/>
                <a:cs typeface="Calibri" pitchFamily="34" charset="-120"/>
              </a:rPr>
              <a:t> is a choice of code or reference — which choices are Must Support?</a:t>
            </a:r>
            <a:endParaRPr lang="en-US" sz="1200" dirty="0"/>
          </a:p>
          <a:p>
            <a:pPr marL="685800" lvl="1"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Terminology details</a:t>
            </a:r>
          </a:p>
          <a:p>
            <a:pPr marL="228600" indent="-228600">
              <a:spcAft>
                <a:spcPts val="400"/>
              </a:spcAft>
              <a:buSzPct val="100000"/>
              <a:buFontTx/>
              <a:buChar char="•"/>
            </a:pPr>
            <a:r>
              <a:rPr lang="en-US" sz="1200" b="1" dirty="0">
                <a:solidFill>
                  <a:srgbClr val="1F2933"/>
                </a:solidFill>
                <a:latin typeface="Calibri" pitchFamily="34" charset="0"/>
                <a:ea typeface="Calibri" pitchFamily="34" charset="-122"/>
                <a:cs typeface="Calibri" pitchFamily="34" charset="-120"/>
              </a:rPr>
              <a:t>Nutrition Order</a:t>
            </a:r>
            <a:endParaRPr lang="en-US" sz="1200" b="1" dirty="0">
              <a:latin typeface="Calibri" charset="0"/>
              <a:ea typeface="Calibri" pitchFamily="34" charset="-122"/>
              <a:cs typeface="Calibri" charset="0"/>
            </a:endParaRPr>
          </a:p>
          <a:p>
            <a:pPr marL="685800" lvl="1" indent="-228600">
              <a:spcAft>
                <a:spcPts val="400"/>
              </a:spcAft>
              <a:buSzPct val="100000"/>
              <a:buFontTx/>
              <a:buChar char="•"/>
            </a:pPr>
            <a:r>
              <a:rPr lang="en-US" sz="1200" dirty="0" err="1">
                <a:solidFill>
                  <a:srgbClr val="1F2933"/>
                </a:solidFill>
                <a:latin typeface="Calibri" pitchFamily="34" charset="0"/>
                <a:ea typeface="Calibri" pitchFamily="34" charset="-122"/>
                <a:cs typeface="Calibri" pitchFamily="34" charset="-120"/>
              </a:rPr>
              <a:t>NutritionOrder</a:t>
            </a:r>
            <a:r>
              <a:rPr lang="en-US" sz="1200" dirty="0">
                <a:solidFill>
                  <a:srgbClr val="1F2933"/>
                </a:solidFill>
                <a:latin typeface="Calibri" pitchFamily="34" charset="0"/>
                <a:ea typeface="Calibri" pitchFamily="34" charset="-122"/>
                <a:cs typeface="Calibri" pitchFamily="34" charset="-120"/>
              </a:rPr>
              <a:t>: should these be Must Support:</a:t>
            </a:r>
            <a:endParaRPr lang="en-US" sz="1200" dirty="0"/>
          </a:p>
          <a:p>
            <a:pPr lvl="2" indent="-228600">
              <a:spcAft>
                <a:spcPts val="400"/>
              </a:spcAft>
              <a:buSzPct val="100000"/>
              <a:buChar char="–"/>
            </a:pPr>
            <a:r>
              <a:rPr lang="en-US" sz="1100" dirty="0">
                <a:solidFill>
                  <a:srgbClr val="1F2933"/>
                </a:solidFill>
                <a:highlight>
                  <a:srgbClr val="EEF1F5"/>
                </a:highlight>
                <a:latin typeface="Courier New" pitchFamily="34" charset="0"/>
                <a:ea typeface="Courier New" pitchFamily="34" charset="-122"/>
                <a:cs typeface="Courier New" pitchFamily="34" charset="-120"/>
              </a:rPr>
              <a:t>.enteral</a:t>
            </a:r>
            <a:r>
              <a:rPr lang="en-US" sz="1100" dirty="0">
                <a:solidFill>
                  <a:srgbClr val="1F2933"/>
                </a:solidFill>
                <a:latin typeface="Calibri" pitchFamily="34" charset="0"/>
                <a:ea typeface="Calibri" pitchFamily="34" charset="-122"/>
                <a:cs typeface="Calibri" pitchFamily="34" charset="-120"/>
              </a:rPr>
              <a:t> </a:t>
            </a:r>
          </a:p>
          <a:p>
            <a:pPr lvl="2" indent="-228600">
              <a:spcAft>
                <a:spcPts val="400"/>
              </a:spcAft>
              <a:buSzPct val="100000"/>
              <a:buChar char="–"/>
            </a:pPr>
            <a:r>
              <a:rPr lang="en-US" sz="1100" dirty="0">
                <a:solidFill>
                  <a:srgbClr val="1F2933"/>
                </a:solidFill>
                <a:highlight>
                  <a:srgbClr val="EEF1F5"/>
                </a:highlight>
                <a:latin typeface="Courier New" pitchFamily="34" charset="0"/>
                <a:ea typeface="Courier New" pitchFamily="34" charset="-122"/>
                <a:cs typeface="Courier New" pitchFamily="34" charset="-120"/>
              </a:rPr>
              <a:t>.supplements</a:t>
            </a:r>
            <a:endParaRPr lang="en-US" sz="1100" dirty="0"/>
          </a:p>
          <a:p>
            <a:pPr lvl="2" indent="-228600">
              <a:spcAft>
                <a:spcPts val="400"/>
              </a:spcAft>
              <a:buSzPct val="100000"/>
              <a:buChar char="–"/>
            </a:pPr>
            <a:r>
              <a:rPr lang="en-US" sz="1100" dirty="0" err="1">
                <a:solidFill>
                  <a:srgbClr val="1F2933"/>
                </a:solidFill>
                <a:highlight>
                  <a:srgbClr val="EEF1F5"/>
                </a:highlight>
                <a:latin typeface="Courier New" pitchFamily="34" charset="0"/>
                <a:ea typeface="Courier New" pitchFamily="34" charset="-122"/>
                <a:cs typeface="Courier New" pitchFamily="34" charset="-120"/>
              </a:rPr>
              <a:t>oralDiet.instruction</a:t>
            </a:r>
            <a:r>
              <a:rPr lang="en-US" sz="1100" dirty="0">
                <a:solidFill>
                  <a:srgbClr val="1F2933"/>
                </a:solidFill>
                <a:latin typeface="Calibri" pitchFamily="34" charset="0"/>
                <a:ea typeface="Calibri" pitchFamily="34" charset="-122"/>
                <a:cs typeface="Calibri" pitchFamily="34" charset="-120"/>
              </a:rPr>
              <a:t>?</a:t>
            </a:r>
            <a:endParaRPr lang="en-US" sz="1100" dirty="0"/>
          </a:p>
          <a:p>
            <a:pPr marL="685800" lvl="1"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Terminology and search API details</a:t>
            </a:r>
          </a:p>
          <a:p>
            <a:pPr marL="228600" indent="-228600">
              <a:spcAft>
                <a:spcPts val="400"/>
              </a:spcAft>
              <a:buSzPct val="100000"/>
              <a:buFontTx/>
              <a:buChar char="•"/>
            </a:pPr>
            <a:r>
              <a:rPr lang="en-US" sz="1200" b="1" dirty="0">
                <a:solidFill>
                  <a:srgbClr val="1F2933"/>
                </a:solidFill>
                <a:latin typeface="Calibri" pitchFamily="34" charset="0"/>
                <a:ea typeface="Calibri" pitchFamily="34" charset="-122"/>
                <a:cs typeface="Calibri" pitchFamily="34" charset="-120"/>
              </a:rPr>
              <a:t>Referral Order - </a:t>
            </a:r>
            <a:r>
              <a:rPr lang="en-US" sz="1200" dirty="0">
                <a:solidFill>
                  <a:srgbClr val="1F2933"/>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p>
            <a:pPr marL="228600" indent="-228600">
              <a:spcAft>
                <a:spcPts val="400"/>
              </a:spcAft>
              <a:buSzPct val="100000"/>
              <a:buChar char="•"/>
            </a:pPr>
            <a:endParaRPr lang="en-US" sz="1200" dirty="0"/>
          </a:p>
        </p:txBody>
      </p:sp>
      <p:sp>
        <p:nvSpPr>
          <p:cNvPr id="8" name="Text 6"/>
          <p:cNvSpPr txBox="1"/>
          <p:nvPr/>
        </p:nvSpPr>
        <p:spPr>
          <a:xfrm>
            <a:off x="457200" y="4096512"/>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Next steps</a:t>
            </a:r>
            <a:endParaRPr lang="en-US" sz="1400" dirty="0"/>
          </a:p>
        </p:txBody>
      </p:sp>
      <p:sp>
        <p:nvSpPr>
          <p:cNvPr id="9" name="Text 7"/>
          <p:cNvSpPr txBox="1"/>
          <p:nvPr/>
        </p:nvSpPr>
        <p:spPr>
          <a:xfrm>
            <a:off x="457200" y="4416552"/>
            <a:ext cx="11277295" cy="512064"/>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Review binding and search API for both new profiles</a:t>
            </a:r>
            <a:endParaRPr lang="en-US" sz="1200" dirty="0"/>
          </a:p>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Decide on "shape" of NutritionOrder Profile.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Allergies and Intolerances</a:t>
            </a:r>
            <a:endParaRPr lang="en-US" sz="26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https://hackmd.io/ziEuzkenRnqZ55h7L7vV_Q</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978408"/>
        </p:xfrm>
        <a:graphic>
          <a:graphicData uri="http://schemas.openxmlformats.org/drawingml/2006/table">
            <a:tbl>
              <a:tblPr/>
              <a:tblGrid>
                <a:gridCol w="3931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150815">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 Element / USCDI Definition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Required Terminology</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Design Decision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64922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Allergy Intolerance Criticality</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Estimate of the potential clinical harm, or seriousness, of a reaction to an identified substance.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Add </a:t>
                      </a:r>
                      <a:r>
                        <a:rPr lang="en-US" sz="1000" dirty="0">
                          <a:solidFill>
                            <a:srgbClr val="1F2933"/>
                          </a:solidFill>
                          <a:highlight>
                            <a:srgbClr val="EEF1F5"/>
                          </a:highlight>
                          <a:latin typeface="Courier New" pitchFamily="34" charset="0"/>
                          <a:ea typeface="Courier New" pitchFamily="34" charset="-122"/>
                          <a:cs typeface="Courier New" pitchFamily="34" charset="-120"/>
                        </a:rPr>
                        <a:t>AllergyIntolerance.criticality</a:t>
                      </a:r>
                      <a:r>
                        <a:rPr lang="en-US" sz="1100" dirty="0">
                          <a:solidFill>
                            <a:srgbClr val="1F2933"/>
                          </a:solidFill>
                          <a:latin typeface="Calibri" pitchFamily="34" charset="0"/>
                          <a:ea typeface="Calibri" pitchFamily="34" charset="-122"/>
                          <a:cs typeface="Calibri" pitchFamily="34" charset="-120"/>
                        </a:rPr>
                        <a:t> 0..1 as an </a:t>
                      </a:r>
                      <a:r>
                        <a:rPr lang="en-US" sz="1100" i="1" dirty="0">
                          <a:solidFill>
                            <a:srgbClr val="1F2933"/>
                          </a:solidFill>
                          <a:latin typeface="Calibri" pitchFamily="34" charset="0"/>
                          <a:ea typeface="Calibri" pitchFamily="34" charset="-122"/>
                          <a:cs typeface="Calibri" pitchFamily="34" charset="-120"/>
                        </a:rPr>
                        <a:t>Additional USCDI</a:t>
                      </a:r>
                      <a:r>
                        <a:rPr lang="en-US" sz="1100" dirty="0">
                          <a:solidFill>
                            <a:srgbClr val="1F2933"/>
                          </a:solidFill>
                          <a:latin typeface="Calibri" pitchFamily="34" charset="0"/>
                          <a:ea typeface="Calibri" pitchFamily="34" charset="-122"/>
                          <a:cs typeface="Calibri" pitchFamily="34" charset="-120"/>
                        </a:rPr>
                        <a:t> element to the US Core AllergyIntolerance Profile. No new search parameter.</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7" name="Text 4"/>
          <p:cNvSpPr txBox="1"/>
          <p:nvPr/>
        </p:nvSpPr>
        <p:spPr>
          <a:xfrm>
            <a:off x="457200" y="2560320"/>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Open issues</a:t>
            </a:r>
            <a:endParaRPr lang="en-US" sz="1400" dirty="0"/>
          </a:p>
        </p:txBody>
      </p:sp>
      <p:sp>
        <p:nvSpPr>
          <p:cNvPr id="8" name="Text 5"/>
          <p:cNvSpPr txBox="1"/>
          <p:nvPr/>
        </p:nvSpPr>
        <p:spPr>
          <a:xfrm>
            <a:off x="457200" y="2880360"/>
            <a:ext cx="11277295" cy="512064"/>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Criticality vs. severity — a long-standing distinction that implementers and system users conflate.</a:t>
            </a:r>
            <a:endParaRPr lang="en-US" sz="1200" dirty="0"/>
          </a:p>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The mapping into the three AllergyIntoleranceCriticality codes is lossy</a:t>
            </a:r>
            <a:endParaRPr lang="en-US" sz="1200" dirty="0"/>
          </a:p>
        </p:txBody>
      </p:sp>
      <p:sp>
        <p:nvSpPr>
          <p:cNvPr id="9" name="Text 6"/>
          <p:cNvSpPr txBox="1"/>
          <p:nvPr/>
        </p:nvSpPr>
        <p:spPr>
          <a:xfrm>
            <a:off x="457200" y="3557016"/>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Next steps</a:t>
            </a:r>
            <a:endParaRPr lang="en-US" sz="1400" dirty="0"/>
          </a:p>
        </p:txBody>
      </p:sp>
      <p:sp>
        <p:nvSpPr>
          <p:cNvPr id="10" name="Text 7"/>
          <p:cNvSpPr txBox="1"/>
          <p:nvPr/>
        </p:nvSpPr>
        <p:spPr>
          <a:xfrm>
            <a:off x="457200" y="3877056"/>
            <a:ext cx="11277295" cy="274320"/>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Consider whether to add an extension to record the  local source code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Health Status Assessments</a:t>
            </a:r>
            <a:endParaRPr lang="en-US" sz="26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https://hackmd.io/_s1WbP-9SxGOEt8IcST0Ow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2633472"/>
        </p:xfrm>
        <a:graphic>
          <a:graphicData uri="http://schemas.openxmlformats.org/drawingml/2006/table">
            <a:tbl>
              <a:tblPr/>
              <a:tblGrid>
                <a:gridCol w="3931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150815">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 Element / USCDI Definition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Required Terminology</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Design Decision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64922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Nutrition Assessment</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Assessment of a person's dietary intake.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LOINC version 2.82</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Use the existing Assessments/Observations framework and add terminology to the Screening and Assessments guidance page. Category code </a:t>
                      </a:r>
                      <a:r>
                        <a:rPr lang="en-US" sz="1100" b="1" dirty="0">
                          <a:solidFill>
                            <a:srgbClr val="1F2933"/>
                          </a:solidFill>
                          <a:latin typeface="Calibri" pitchFamily="34" charset="0"/>
                          <a:ea typeface="Calibri" pitchFamily="34" charset="-122"/>
                          <a:cs typeface="Calibri" pitchFamily="34" charset="-120"/>
                        </a:rPr>
                        <a:t>75305-3</a:t>
                      </a:r>
                      <a:r>
                        <a:rPr lang="en-US" sz="1100" dirty="0">
                          <a:solidFill>
                            <a:srgbClr val="1F2933"/>
                          </a:solidFill>
                          <a:latin typeface="Calibri" pitchFamily="34" charset="0"/>
                          <a:ea typeface="Calibri" pitchFamily="34" charset="-122"/>
                          <a:cs typeface="Calibri" pitchFamily="34" charset="-120"/>
                        </a:rPr>
                        <a:t> (Nutrition status); result values from SNOMED CT where applicable.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65506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Tobacco Use</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Assessment of a patient's tobacco and nicotine product use behaviors, including smokeless tobacco, cigarettes, cigars, pipe tobacco, waterpipes (hookah), nicotine pouches, heated tobacco products, e-cigarettes, and other electronic nicotine delivery systems. Examples include but are not limited to duration and frequency of use, mode of consumption, and type of product used, and exclude prescribed nicotine replacement therapies.</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LOINC version 2.82</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SNOMED CT U.S. Edition, March 2026 Release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Update and rename the </a:t>
                      </a:r>
                      <a:r>
                        <a:rPr lang="en-US" sz="1100" i="1" dirty="0">
                          <a:solidFill>
                            <a:srgbClr val="1F2933"/>
                          </a:solidFill>
                          <a:latin typeface="Calibri" pitchFamily="34" charset="0"/>
                          <a:ea typeface="Calibri" pitchFamily="34" charset="-122"/>
                          <a:cs typeface="Calibri" pitchFamily="34" charset="-120"/>
                        </a:rPr>
                        <a:t>US Core Smoking Status Observation Profile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bl>
          </a:graphicData>
        </a:graphic>
      </p:graphicFrame>
      <p:sp>
        <p:nvSpPr>
          <p:cNvPr id="7" name="Text 4"/>
          <p:cNvSpPr txBox="1"/>
          <p:nvPr/>
        </p:nvSpPr>
        <p:spPr>
          <a:xfrm>
            <a:off x="457200" y="4123944"/>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Open issues</a:t>
            </a:r>
            <a:endParaRPr lang="en-US" sz="1400" dirty="0"/>
          </a:p>
        </p:txBody>
      </p:sp>
      <p:sp>
        <p:nvSpPr>
          <p:cNvPr id="8" name="Text 5"/>
          <p:cNvSpPr txBox="1"/>
          <p:nvPr/>
        </p:nvSpPr>
        <p:spPr>
          <a:xfrm>
            <a:off x="457200" y="4443984"/>
            <a:ext cx="11277295" cy="1097280"/>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Both elements overlap functionally with the SDOH/Assessments content.</a:t>
            </a:r>
            <a:endParaRPr lang="en-US" sz="1200" dirty="0"/>
          </a:p>
          <a:p>
            <a:pPr marL="228600" indent="-228600">
              <a:spcAft>
                <a:spcPts val="400"/>
              </a:spcAft>
              <a:buSzPct val="100000"/>
              <a:buFontTx/>
              <a:buChar char="•"/>
            </a:pPr>
            <a:r>
              <a:rPr lang="en-US" sz="1200" b="1" dirty="0">
                <a:solidFill>
                  <a:srgbClr val="1F2933"/>
                </a:solidFill>
                <a:latin typeface="Calibri" pitchFamily="34" charset="0"/>
                <a:ea typeface="Calibri" pitchFamily="34" charset="-122"/>
                <a:cs typeface="Calibri" pitchFamily="34" charset="-120"/>
              </a:rPr>
              <a:t>Nutrition Assessment</a:t>
            </a:r>
            <a:endParaRPr lang="en-US" sz="1200" dirty="0">
              <a:latin typeface="Calibri" charset="0"/>
              <a:ea typeface="Calibri" charset="0"/>
              <a:cs typeface="Calibri" charset="0"/>
            </a:endParaRPr>
          </a:p>
          <a:p>
            <a:pPr marL="685800" lvl="1"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Terminology</a:t>
            </a:r>
            <a:endParaRPr lang="en-US" sz="1200" dirty="0"/>
          </a:p>
          <a:p>
            <a:pPr marL="228600" indent="-228600">
              <a:spcAft>
                <a:spcPts val="400"/>
              </a:spcAft>
              <a:buSzPct val="100000"/>
              <a:buFontTx/>
              <a:buChar char="•"/>
            </a:pPr>
            <a:r>
              <a:rPr lang="en-US" sz="1200" b="1" dirty="0">
                <a:solidFill>
                  <a:srgbClr val="1F2933"/>
                </a:solidFill>
                <a:latin typeface="Calibri" pitchFamily="34" charset="0"/>
                <a:ea typeface="Calibri" pitchFamily="34" charset="-122"/>
                <a:cs typeface="Calibri" pitchFamily="34" charset="-120"/>
              </a:rPr>
              <a:t>Tobacco Use</a:t>
            </a:r>
            <a:endParaRPr lang="en-US" sz="1200" dirty="0">
              <a:latin typeface="Calibri" charset="0"/>
              <a:ea typeface="Calibri" charset="0"/>
              <a:cs typeface="Calibri" charset="0"/>
            </a:endParaRPr>
          </a:p>
          <a:p>
            <a:pPr marL="685800" lvl="1"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Rename  vs. "rip-n-replace" the Smoking Status profile with a new Profile.</a:t>
            </a:r>
            <a:endParaRPr lang="en-US" sz="1200" dirty="0"/>
          </a:p>
        </p:txBody>
      </p:sp>
      <p:sp>
        <p:nvSpPr>
          <p:cNvPr id="9" name="Text 6"/>
          <p:cNvSpPr txBox="1"/>
          <p:nvPr/>
        </p:nvSpPr>
        <p:spPr>
          <a:xfrm>
            <a:off x="457200" y="5622544"/>
            <a:ext cx="11277295" cy="274320"/>
          </a:xfrm>
          <a:prstGeom prst="rect">
            <a:avLst/>
          </a:prstGeom>
          <a:noFill/>
          <a:ln/>
        </p:spPr>
        <p:txBody>
          <a:bodyPr wrap="square" lIns="0" tIns="0" rIns="0" bIns="0" rtlCol="0" anchor="b"/>
          <a:lstStyle/>
          <a:p>
            <a:r>
              <a:rPr lang="en-US" sz="1400" b="1" dirty="0">
                <a:solidFill>
                  <a:srgbClr val="1F3A5F"/>
                </a:solidFill>
                <a:latin typeface="Calibri" pitchFamily="34" charset="0"/>
                <a:ea typeface="Calibri" pitchFamily="34" charset="-122"/>
                <a:cs typeface="Calibri" pitchFamily="34" charset="-120"/>
              </a:rPr>
              <a:t> </a:t>
            </a:r>
            <a:r>
              <a:rPr lang="en-US" sz="1400" dirty="0"/>
              <a:t>📅 </a:t>
            </a:r>
            <a:r>
              <a:rPr lang="en-US" sz="1400" b="1" dirty="0">
                <a:solidFill>
                  <a:srgbClr val="1F3A5F"/>
                </a:solidFill>
                <a:latin typeface="Calibri" pitchFamily="34" charset="0"/>
                <a:ea typeface="Calibri" pitchFamily="34" charset="-122"/>
                <a:cs typeface="Calibri" pitchFamily="34" charset="-120"/>
              </a:rPr>
              <a:t> Next steps</a:t>
            </a:r>
            <a:endParaRPr lang="en-US" sz="1400" dirty="0"/>
          </a:p>
        </p:txBody>
      </p:sp>
      <p:sp>
        <p:nvSpPr>
          <p:cNvPr id="10" name="Text 7"/>
          <p:cNvSpPr txBox="1"/>
          <p:nvPr/>
        </p:nvSpPr>
        <p:spPr>
          <a:xfrm>
            <a:off x="457200" y="5942584"/>
            <a:ext cx="11277295" cy="512064"/>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Review </a:t>
            </a:r>
            <a:r>
              <a:rPr lang="en-US" sz="1200" i="1" dirty="0">
                <a:solidFill>
                  <a:srgbClr val="1F2933"/>
                </a:solidFill>
                <a:latin typeface="Calibri" pitchFamily="34" charset="0"/>
                <a:ea typeface="Calibri" pitchFamily="34" charset="-122"/>
                <a:cs typeface="Calibri" pitchFamily="34" charset="-120"/>
              </a:rPr>
              <a:t>US Core Smoking Status Observation Profile</a:t>
            </a:r>
            <a:r>
              <a:rPr lang="en-US" sz="1200" dirty="0">
                <a:solidFill>
                  <a:srgbClr val="1F2933"/>
                </a:solidFill>
                <a:latin typeface="Calibri" pitchFamily="34" charset="0"/>
                <a:ea typeface="Calibri" pitchFamily="34" charset="-122"/>
                <a:cs typeface="Calibri" pitchFamily="34" charset="-120"/>
              </a:rPr>
              <a:t> coverage gaps (mostly terminology)</a:t>
            </a:r>
            <a:endParaRPr lang="en-US" sz="1200" dirty="0"/>
          </a:p>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Finalize the Nutrition Assessment binding</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Laboratory</a:t>
            </a:r>
            <a:endParaRPr lang="en-US" sz="26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https://hackmd.io/38xa1BZ7TjaPMao6LJHuCA</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1962912"/>
        </p:xfrm>
        <a:graphic>
          <a:graphicData uri="http://schemas.openxmlformats.org/drawingml/2006/table">
            <a:tbl>
              <a:tblPr/>
              <a:tblGrid>
                <a:gridCol w="3931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150815">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 Element / USCDI Definition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Required Terminology</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Design Decision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81686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Specimen Collection Method</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Technique or procedure used to obtain a specimen. Examples include but are not limited to venipuncture, swab, biopsy, aspiration, and catheter collection.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SNOMED CT U.S. Edition, March 2026 Release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Add </a:t>
                      </a:r>
                      <a:r>
                        <a:rPr lang="en-US" sz="1000" dirty="0">
                          <a:solidFill>
                            <a:srgbClr val="1F2933"/>
                          </a:solidFill>
                          <a:highlight>
                            <a:srgbClr val="EEF1F5"/>
                          </a:highlight>
                          <a:latin typeface="Courier New" pitchFamily="34" charset="0"/>
                          <a:ea typeface="Courier New" pitchFamily="34" charset="-122"/>
                          <a:cs typeface="Courier New" pitchFamily="34" charset="-120"/>
                        </a:rPr>
                        <a:t>Specimen.collection.method</a:t>
                      </a:r>
                      <a:r>
                        <a:rPr lang="en-US" sz="1100" dirty="0">
                          <a:solidFill>
                            <a:srgbClr val="1F2933"/>
                          </a:solidFill>
                          <a:latin typeface="Calibri" pitchFamily="34" charset="0"/>
                          <a:ea typeface="Calibri" pitchFamily="34" charset="-122"/>
                          <a:cs typeface="Calibri" pitchFamily="34" charset="-120"/>
                        </a:rPr>
                        <a:t> min = 0 as an </a:t>
                      </a:r>
                      <a:r>
                        <a:rPr lang="en-US" sz="1100" i="1" dirty="0">
                          <a:solidFill>
                            <a:srgbClr val="1F2933"/>
                          </a:solidFill>
                          <a:latin typeface="Calibri" pitchFamily="34" charset="0"/>
                          <a:ea typeface="Calibri" pitchFamily="34" charset="-122"/>
                          <a:cs typeface="Calibri" pitchFamily="34" charset="-120"/>
                        </a:rPr>
                        <a:t>Additional USCDI</a:t>
                      </a:r>
                      <a:r>
                        <a:rPr lang="en-US" sz="1100" dirty="0">
                          <a:solidFill>
                            <a:srgbClr val="1F2933"/>
                          </a:solidFill>
                          <a:latin typeface="Calibri" pitchFamily="34" charset="0"/>
                          <a:ea typeface="Calibri" pitchFamily="34" charset="-122"/>
                          <a:cs typeface="Calibri" pitchFamily="34" charset="-120"/>
                        </a:rPr>
                        <a:t> element to the US Core Specimen Profile, with a </a:t>
                      </a:r>
                      <a:r>
                        <a:rPr lang="en-US" sz="1100" b="1" dirty="0">
                          <a:solidFill>
                            <a:srgbClr val="1F2933"/>
                          </a:solidFill>
                          <a:latin typeface="Calibri" pitchFamily="34" charset="0"/>
                          <a:ea typeface="Calibri" pitchFamily="34" charset="-122"/>
                          <a:cs typeface="Calibri" pitchFamily="34" charset="-120"/>
                        </a:rPr>
                        <a:t>preferred</a:t>
                      </a:r>
                      <a:r>
                        <a:rPr lang="en-US" sz="1100" dirty="0">
                          <a:solidFill>
                            <a:srgbClr val="1F2933"/>
                          </a:solidFill>
                          <a:latin typeface="Calibri" pitchFamily="34" charset="0"/>
                          <a:ea typeface="Calibri" pitchFamily="34" charset="-122"/>
                          <a:cs typeface="Calibri" pitchFamily="34" charset="-120"/>
                        </a:rPr>
                        <a:t> binding to US Core value set published in VSAC; concepts TBD.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686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Specimen Collection Date and Time</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Date and time when the specimen was obtained.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Add </a:t>
                      </a:r>
                      <a:r>
                        <a:rPr lang="en-US" sz="1000" dirty="0">
                          <a:solidFill>
                            <a:srgbClr val="1F2933"/>
                          </a:solidFill>
                          <a:highlight>
                            <a:srgbClr val="EEF1F5"/>
                          </a:highlight>
                          <a:latin typeface="Courier New" pitchFamily="34" charset="0"/>
                          <a:ea typeface="Courier New" pitchFamily="34" charset="-122"/>
                          <a:cs typeface="Courier New" pitchFamily="34" charset="-120"/>
                        </a:rPr>
                        <a:t>Specimen.collection.collected[x]</a:t>
                      </a:r>
                      <a:r>
                        <a:rPr lang="en-US" sz="1100" dirty="0">
                          <a:solidFill>
                            <a:srgbClr val="1F2933"/>
                          </a:solidFill>
                          <a:latin typeface="Calibri" pitchFamily="34" charset="0"/>
                          <a:ea typeface="Calibri" pitchFamily="34" charset="-122"/>
                          <a:cs typeface="Calibri" pitchFamily="34" charset="-120"/>
                        </a:rPr>
                        <a:t> min = 0 as an </a:t>
                      </a:r>
                      <a:r>
                        <a:rPr lang="en-US" sz="1100" i="1" dirty="0">
                          <a:solidFill>
                            <a:srgbClr val="1F2933"/>
                          </a:solidFill>
                          <a:latin typeface="Calibri" pitchFamily="34" charset="0"/>
                          <a:ea typeface="Calibri" pitchFamily="34" charset="-122"/>
                          <a:cs typeface="Calibri" pitchFamily="34" charset="-120"/>
                        </a:rPr>
                        <a:t>Additional USCDI</a:t>
                      </a:r>
                      <a:r>
                        <a:rPr lang="en-US" sz="1100" dirty="0">
                          <a:solidFill>
                            <a:srgbClr val="1F2933"/>
                          </a:solidFill>
                          <a:latin typeface="Calibri" pitchFamily="34" charset="0"/>
                          <a:ea typeface="Calibri" pitchFamily="34" charset="-122"/>
                          <a:cs typeface="Calibri" pitchFamily="34" charset="-120"/>
                        </a:rPr>
                        <a:t> element to the US Core Specimen Profile. Note that per the base FHIR definition (</a:t>
                      </a:r>
                      <a:r>
                        <a:rPr lang="en-US" sz="1000" dirty="0">
                          <a:solidFill>
                            <a:srgbClr val="1F2933"/>
                          </a:solidFill>
                          <a:highlight>
                            <a:srgbClr val="EEF1F5"/>
                          </a:highlight>
                          <a:latin typeface="Courier New" pitchFamily="34" charset="0"/>
                          <a:ea typeface="Courier New" pitchFamily="34" charset="-122"/>
                          <a:cs typeface="Courier New" pitchFamily="34" charset="-120"/>
                        </a:rPr>
                        <a:t>effective[x]</a:t>
                      </a:r>
                      <a:r>
                        <a:rPr lang="en-US" sz="1100" dirty="0">
                          <a:solidFill>
                            <a:srgbClr val="1F2933"/>
                          </a:solidFill>
                          <a:latin typeface="Calibri" pitchFamily="34" charset="0"/>
                          <a:ea typeface="Calibri" pitchFamily="34" charset="-122"/>
                          <a:cs typeface="Calibri" pitchFamily="34" charset="-120"/>
                        </a:rPr>
                        <a:t> on the US Core Laboratory Result Observation Profile also maps to this element.)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bl>
          </a:graphicData>
        </a:graphic>
      </p:graphicFrame>
      <p:sp>
        <p:nvSpPr>
          <p:cNvPr id="7" name="Text 4"/>
          <p:cNvSpPr txBox="1"/>
          <p:nvPr/>
        </p:nvSpPr>
        <p:spPr>
          <a:xfrm>
            <a:off x="457200" y="3544824"/>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Open issues</a:t>
            </a:r>
            <a:endParaRPr lang="en-US" sz="1400" dirty="0"/>
          </a:p>
        </p:txBody>
      </p:sp>
      <p:sp>
        <p:nvSpPr>
          <p:cNvPr id="8" name="Text 5"/>
          <p:cNvSpPr txBox="1"/>
          <p:nvPr/>
        </p:nvSpPr>
        <p:spPr>
          <a:xfrm>
            <a:off x="457200" y="3864864"/>
            <a:ext cx="11277295" cy="768096"/>
          </a:xfrm>
          <a:prstGeom prst="rect">
            <a:avLst/>
          </a:prstGeom>
          <a:noFill/>
          <a:ln/>
        </p:spPr>
        <p:txBody>
          <a:bodyPr wrap="square" lIns="0" tIns="0" rIns="0" bIns="0" rtlCol="0" anchor="t"/>
          <a:lstStyle/>
          <a:p>
            <a:pPr marL="228600" indent="-228600">
              <a:spcAft>
                <a:spcPts val="400"/>
              </a:spcAft>
              <a:buSzPct val="100000"/>
              <a:buFontTx/>
              <a:buChar char="•"/>
            </a:pPr>
            <a:r>
              <a:rPr lang="en-US" sz="1200" b="1" dirty="0">
                <a:solidFill>
                  <a:srgbClr val="1F2933"/>
                </a:solidFill>
                <a:latin typeface="Calibri" pitchFamily="34" charset="0"/>
                <a:ea typeface="Calibri" pitchFamily="34" charset="-122"/>
                <a:cs typeface="Calibri" pitchFamily="34" charset="-120"/>
              </a:rPr>
              <a:t>Specimen Collection Method</a:t>
            </a:r>
            <a:endParaRPr lang="en-US" sz="1200" dirty="0">
              <a:latin typeface="Calibri" charset="0"/>
              <a:ea typeface="Calibri" charset="0"/>
              <a:cs typeface="Calibri" charset="0"/>
            </a:endParaRPr>
          </a:p>
          <a:p>
            <a:pPr marL="685800" lvl="1"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FHIR Specimen Collection Method Terminology</a:t>
            </a:r>
          </a:p>
          <a:p>
            <a:pPr marL="228600" indent="-228600">
              <a:spcAft>
                <a:spcPts val="400"/>
              </a:spcAft>
              <a:buSzPct val="100000"/>
              <a:buFontTx/>
              <a:buChar char="•"/>
            </a:pPr>
            <a:r>
              <a:rPr lang="en-US" sz="1200" b="1" dirty="0">
                <a:solidFill>
                  <a:srgbClr val="1F2933"/>
                </a:solidFill>
                <a:latin typeface="Calibri" pitchFamily="34" charset="0"/>
                <a:ea typeface="Calibri" pitchFamily="34" charset="-122"/>
                <a:cs typeface="Calibri" pitchFamily="34" charset="-120"/>
              </a:rPr>
              <a:t>Specimen Collection Date and Time - </a:t>
            </a:r>
            <a:r>
              <a:rPr lang="en-US" sz="1200" dirty="0">
                <a:solidFill>
                  <a:srgbClr val="1F2933"/>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p>
            <a:pPr>
              <a:spcAft>
                <a:spcPts val="400"/>
              </a:spcAft>
              <a:buSzPct val="100000"/>
            </a:pPr>
            <a:endParaRPr lang="en-US" sz="1200" dirty="0"/>
          </a:p>
        </p:txBody>
      </p:sp>
      <p:sp>
        <p:nvSpPr>
          <p:cNvPr id="9" name="Text 6"/>
          <p:cNvSpPr txBox="1"/>
          <p:nvPr/>
        </p:nvSpPr>
        <p:spPr>
          <a:xfrm>
            <a:off x="457200" y="4893056"/>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Next steps</a:t>
            </a:r>
            <a:endParaRPr lang="en-US" sz="1400" dirty="0"/>
          </a:p>
        </p:txBody>
      </p:sp>
      <p:sp>
        <p:nvSpPr>
          <p:cNvPr id="10" name="Text 7"/>
          <p:cNvSpPr txBox="1"/>
          <p:nvPr/>
        </p:nvSpPr>
        <p:spPr>
          <a:xfrm>
            <a:off x="457200" y="5213096"/>
            <a:ext cx="11277295" cy="274320"/>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Finalize the terminology</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21</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Facility Information</a:t>
            </a:r>
            <a:endParaRPr lang="en-US" sz="26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https://hackmd.io/osTHZxJpRveYPTwpDQDmVg</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1816608"/>
        </p:xfrm>
        <a:graphic>
          <a:graphicData uri="http://schemas.openxmlformats.org/drawingml/2006/table">
            <a:tbl>
              <a:tblPr/>
              <a:tblGrid>
                <a:gridCol w="3931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150815">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 Element / USCDI Definition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Required Terminology</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Design Decision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148742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Facility Telecom</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Phone or email contact information for a physical place of available services or resources.</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ITU-T E.123 (notation for national and international telephone numbers, email addresses, and web addresses; incorporated by reference in § 170.299)</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ITU-T E.164 (international public telecommunication numbering plan)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No change</a:t>
                      </a:r>
                      <a:r>
                        <a:rPr lang="en-US" sz="1100" dirty="0">
                          <a:solidFill>
                            <a:srgbClr val="1F2933"/>
                          </a:solidFill>
                          <a:latin typeface="Calibri" pitchFamily="34" charset="0"/>
                          <a:ea typeface="Calibri" pitchFamily="34" charset="-122"/>
                          <a:cs typeface="Calibri" pitchFamily="34" charset="-120"/>
                        </a:rPr>
                        <a:t> — </a:t>
                      </a:r>
                      <a:r>
                        <a:rPr lang="en-US" sz="1000" dirty="0">
                          <a:solidFill>
                            <a:srgbClr val="1F2933"/>
                          </a:solidFill>
                          <a:highlight>
                            <a:srgbClr val="EEF1F5"/>
                          </a:highlight>
                          <a:latin typeface="Courier New" pitchFamily="34" charset="0"/>
                          <a:ea typeface="Courier New" pitchFamily="34" charset="-122"/>
                          <a:cs typeface="Courier New" pitchFamily="34" charset="-120"/>
                        </a:rPr>
                        <a:t>Location.telecom</a:t>
                      </a:r>
                      <a:r>
                        <a:rPr lang="en-US" sz="1100" dirty="0">
                          <a:solidFill>
                            <a:srgbClr val="1F2933"/>
                          </a:solidFill>
                          <a:latin typeface="Calibri" pitchFamily="34" charset="0"/>
                          <a:ea typeface="Calibri" pitchFamily="34" charset="-122"/>
                          <a:cs typeface="Calibri" pitchFamily="34" charset="-120"/>
                        </a:rPr>
                        <a:t> is already Must Support in the US Core Location Profile.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7" name="Text 4"/>
          <p:cNvSpPr txBox="1"/>
          <p:nvPr/>
        </p:nvSpPr>
        <p:spPr>
          <a:xfrm>
            <a:off x="457200" y="3398520"/>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Open issues/Next steps</a:t>
            </a:r>
            <a:endParaRPr lang="en-US" sz="1400" dirty="0"/>
          </a:p>
        </p:txBody>
      </p:sp>
      <p:sp>
        <p:nvSpPr>
          <p:cNvPr id="8" name="Text 5"/>
          <p:cNvSpPr txBox="1"/>
          <p:nvPr/>
        </p:nvSpPr>
        <p:spPr>
          <a:xfrm>
            <a:off x="457200" y="3718560"/>
            <a:ext cx="11277295" cy="274320"/>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None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22</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Health Insurance Information</a:t>
            </a:r>
            <a:endParaRPr lang="en-US" sz="26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https://hackmd.io/fTF4vhmGTneSxejvpdOuBA</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2423160"/>
        </p:xfrm>
        <a:graphic>
          <a:graphicData uri="http://schemas.openxmlformats.org/drawingml/2006/table">
            <a:tbl>
              <a:tblPr/>
              <a:tblGrid>
                <a:gridCol w="3931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150815">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 Element / USCDI Definition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Required Terminology</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Design Decision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48158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Health Insurance Coverage Period</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The time frame when the policy is in force.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No change</a:t>
                      </a:r>
                      <a:r>
                        <a:rPr lang="en-US" sz="1100" dirty="0">
                          <a:solidFill>
                            <a:srgbClr val="1F2933"/>
                          </a:solidFill>
                          <a:latin typeface="Calibri" pitchFamily="34" charset="0"/>
                          <a:ea typeface="Calibri" pitchFamily="34" charset="-122"/>
                          <a:cs typeface="Calibri" pitchFamily="34" charset="-120"/>
                        </a:rPr>
                        <a:t> — </a:t>
                      </a:r>
                      <a:r>
                        <a:rPr lang="en-US" sz="1000" dirty="0">
                          <a:solidFill>
                            <a:srgbClr val="1F2933"/>
                          </a:solidFill>
                          <a:highlight>
                            <a:srgbClr val="EEF1F5"/>
                          </a:highlight>
                          <a:latin typeface="Courier New" pitchFamily="34" charset="0"/>
                          <a:ea typeface="Courier New" pitchFamily="34" charset="-122"/>
                          <a:cs typeface="Courier New" pitchFamily="34" charset="-120"/>
                        </a:rPr>
                        <a:t>Coverage.period</a:t>
                      </a:r>
                      <a:r>
                        <a:rPr lang="en-US" sz="1100" dirty="0">
                          <a:solidFill>
                            <a:srgbClr val="1F2933"/>
                          </a:solidFill>
                          <a:latin typeface="Calibri" pitchFamily="34" charset="0"/>
                          <a:ea typeface="Calibri" pitchFamily="34" charset="-122"/>
                          <a:cs typeface="Calibri" pitchFamily="34" charset="-120"/>
                        </a:rPr>
                        <a:t> is already Must Support.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158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Health Insurance Payer</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Issuer of the policy.</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No change</a:t>
                      </a:r>
                      <a:r>
                        <a:rPr lang="en-US" sz="1100" dirty="0">
                          <a:solidFill>
                            <a:srgbClr val="1F2933"/>
                          </a:solidFill>
                          <a:latin typeface="Calibri" pitchFamily="34" charset="0"/>
                          <a:ea typeface="Calibri" pitchFamily="34" charset="-122"/>
                          <a:cs typeface="Calibri" pitchFamily="34" charset="-120"/>
                        </a:rPr>
                        <a:t> — </a:t>
                      </a:r>
                      <a:r>
                        <a:rPr lang="en-US" sz="1000" dirty="0">
                          <a:solidFill>
                            <a:srgbClr val="1F2933"/>
                          </a:solidFill>
                          <a:highlight>
                            <a:srgbClr val="EEF1F5"/>
                          </a:highlight>
                          <a:latin typeface="Courier New" pitchFamily="34" charset="0"/>
                          <a:ea typeface="Courier New" pitchFamily="34" charset="-122"/>
                          <a:cs typeface="Courier New" pitchFamily="34" charset="-120"/>
                        </a:rPr>
                        <a:t>Coverage.payor</a:t>
                      </a:r>
                      <a:r>
                        <a:rPr lang="en-US" sz="1100" dirty="0">
                          <a:solidFill>
                            <a:srgbClr val="1F2933"/>
                          </a:solidFill>
                          <a:latin typeface="Calibri" pitchFamily="34" charset="0"/>
                          <a:ea typeface="Calibri" pitchFamily="34" charset="-122"/>
                          <a:cs typeface="Calibri" pitchFamily="34" charset="-120"/>
                        </a:rPr>
                        <a:t> is already Must Support.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48158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Health Insurance Plan</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Health insurance offering or package.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No change</a:t>
                      </a:r>
                      <a:r>
                        <a:rPr lang="en-US" sz="1100" dirty="0">
                          <a:solidFill>
                            <a:srgbClr val="1F2933"/>
                          </a:solidFill>
                          <a:latin typeface="Calibri" pitchFamily="34" charset="0"/>
                          <a:ea typeface="Calibri" pitchFamily="34" charset="-122"/>
                          <a:cs typeface="Calibri" pitchFamily="34" charset="-120"/>
                        </a:rPr>
                        <a:t> — </a:t>
                      </a:r>
                      <a:r>
                        <a:rPr lang="en-US" sz="1000" dirty="0">
                          <a:solidFill>
                            <a:srgbClr val="1F2933"/>
                          </a:solidFill>
                          <a:highlight>
                            <a:srgbClr val="EEF1F5"/>
                          </a:highlight>
                          <a:latin typeface="Courier New" pitchFamily="34" charset="0"/>
                          <a:ea typeface="Courier New" pitchFamily="34" charset="-122"/>
                          <a:cs typeface="Courier New" pitchFamily="34" charset="-120"/>
                        </a:rPr>
                        <a:t>Coverage.class:plan</a:t>
                      </a:r>
                      <a:r>
                        <a:rPr lang="en-US" sz="1100" dirty="0">
                          <a:solidFill>
                            <a:srgbClr val="1F2933"/>
                          </a:solidFill>
                          <a:latin typeface="Calibri" pitchFamily="34" charset="0"/>
                          <a:ea typeface="Calibri" pitchFamily="34" charset="-122"/>
                          <a:cs typeface="Calibri" pitchFamily="34" charset="-120"/>
                        </a:rPr>
                        <a:t> is already Must Support.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922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Health Insurance Plan Identifier</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Sequence of characters used to uniquely refer to an insurance plan.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No change</a:t>
                      </a:r>
                      <a:r>
                        <a:rPr lang="en-US" sz="1100" dirty="0">
                          <a:solidFill>
                            <a:srgbClr val="1F2933"/>
                          </a:solidFill>
                          <a:latin typeface="Calibri" pitchFamily="34" charset="0"/>
                          <a:ea typeface="Calibri" pitchFamily="34" charset="-122"/>
                          <a:cs typeface="Calibri" pitchFamily="34" charset="-120"/>
                        </a:rPr>
                        <a:t> — </a:t>
                      </a:r>
                      <a:r>
                        <a:rPr lang="en-US" sz="1000" dirty="0">
                          <a:solidFill>
                            <a:srgbClr val="1F2933"/>
                          </a:solidFill>
                          <a:highlight>
                            <a:srgbClr val="EEF1F5"/>
                          </a:highlight>
                          <a:latin typeface="Courier New" pitchFamily="34" charset="0"/>
                          <a:ea typeface="Courier New" pitchFamily="34" charset="-122"/>
                          <a:cs typeface="Courier New" pitchFamily="34" charset="-120"/>
                        </a:rPr>
                        <a:t>Coverage.class:plan.value</a:t>
                      </a:r>
                      <a:r>
                        <a:rPr lang="en-US" sz="1100" dirty="0">
                          <a:solidFill>
                            <a:srgbClr val="1F2933"/>
                          </a:solidFill>
                          <a:latin typeface="Calibri" pitchFamily="34" charset="0"/>
                          <a:ea typeface="Calibri" pitchFamily="34" charset="-122"/>
                          <a:cs typeface="Calibri" pitchFamily="34" charset="-120"/>
                        </a:rPr>
                        <a:t> and </a:t>
                      </a:r>
                      <a:r>
                        <a:rPr lang="en-US" sz="1000" dirty="0">
                          <a:solidFill>
                            <a:srgbClr val="1F2933"/>
                          </a:solidFill>
                          <a:highlight>
                            <a:srgbClr val="EEF1F5"/>
                          </a:highlight>
                          <a:latin typeface="Courier New" pitchFamily="34" charset="0"/>
                          <a:ea typeface="Courier New" pitchFamily="34" charset="-122"/>
                          <a:cs typeface="Courier New" pitchFamily="34" charset="-120"/>
                        </a:rPr>
                        <a:t>Coverage.class:plan.name</a:t>
                      </a:r>
                      <a:r>
                        <a:rPr lang="en-US" sz="1100" dirty="0">
                          <a:solidFill>
                            <a:srgbClr val="1F2933"/>
                          </a:solidFill>
                          <a:latin typeface="Calibri" pitchFamily="34" charset="0"/>
                          <a:ea typeface="Calibri" pitchFamily="34" charset="-122"/>
                          <a:cs typeface="Calibri" pitchFamily="34" charset="-120"/>
                        </a:rPr>
                        <a:t> are already Must Support.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bl>
          </a:graphicData>
        </a:graphic>
      </p:graphicFrame>
      <p:sp>
        <p:nvSpPr>
          <p:cNvPr id="7" name="Text 4"/>
          <p:cNvSpPr txBox="1"/>
          <p:nvPr/>
        </p:nvSpPr>
        <p:spPr>
          <a:xfrm>
            <a:off x="457200" y="4005072"/>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Open issues/Next steps</a:t>
            </a:r>
            <a:endParaRPr lang="en-US" sz="1400" dirty="0"/>
          </a:p>
        </p:txBody>
      </p:sp>
      <p:sp>
        <p:nvSpPr>
          <p:cNvPr id="8" name="Text 5"/>
          <p:cNvSpPr txBox="1"/>
          <p:nvPr/>
        </p:nvSpPr>
        <p:spPr>
          <a:xfrm>
            <a:off x="457200" y="4325112"/>
            <a:ext cx="11277295" cy="274320"/>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None (Coverage Type's new SOPT 9.2 standard is covered under </a:t>
            </a:r>
            <a:r>
              <a:rPr lang="en-US" sz="1200" u="sng" dirty="0">
                <a:solidFill>
                  <a:srgbClr val="1D4ED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Other USCDI v7 Changes</a:t>
            </a:r>
            <a:r>
              <a:rPr lang="en-US" sz="1200" dirty="0">
                <a:solidFill>
                  <a:srgbClr val="1F2933"/>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23</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Immunizations</a:t>
            </a:r>
            <a:endParaRPr lang="en-US" sz="26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https://hackmd.io/mcuKzClMQYCtWyODyfLJdQ</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1962912"/>
        </p:xfrm>
        <a:graphic>
          <a:graphicData uri="http://schemas.openxmlformats.org/drawingml/2006/table">
            <a:tbl>
              <a:tblPr/>
              <a:tblGrid>
                <a:gridCol w="3931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150815">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 Element / USCDI Definition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Required Terminology</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Design Decision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64922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Immunization Status</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State of an immunization event. Examples include but are not limited to completed, entered in error, and not done.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No change</a:t>
                      </a:r>
                      <a:r>
                        <a:rPr lang="en-US" sz="1100" dirty="0">
                          <a:solidFill>
                            <a:srgbClr val="1F2933"/>
                          </a:solidFill>
                          <a:latin typeface="Calibri" pitchFamily="34" charset="0"/>
                          <a:ea typeface="Calibri" pitchFamily="34" charset="-122"/>
                          <a:cs typeface="Calibri" pitchFamily="34" charset="-120"/>
                        </a:rPr>
                        <a:t> — </a:t>
                      </a:r>
                      <a:r>
                        <a:rPr lang="en-US" sz="1000" dirty="0">
                          <a:solidFill>
                            <a:srgbClr val="1F2933"/>
                          </a:solidFill>
                          <a:highlight>
                            <a:srgbClr val="EEF1F5"/>
                          </a:highlight>
                          <a:latin typeface="Courier New" pitchFamily="34" charset="0"/>
                          <a:ea typeface="Courier New" pitchFamily="34" charset="-122"/>
                          <a:cs typeface="Courier New" pitchFamily="34" charset="-120"/>
                        </a:rPr>
                        <a:t>Immunization.status</a:t>
                      </a:r>
                      <a:r>
                        <a:rPr lang="en-US" sz="1100" dirty="0">
                          <a:solidFill>
                            <a:srgbClr val="1F2933"/>
                          </a:solidFill>
                          <a:latin typeface="Calibri" pitchFamily="34" charset="0"/>
                          <a:ea typeface="Calibri" pitchFamily="34" charset="-122"/>
                          <a:cs typeface="Calibri" pitchFamily="34" charset="-120"/>
                        </a:rPr>
                        <a:t> is already Must Support.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8450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Immunization Record Source</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Indicator that the information source is responsible for the administration of the vaccine. Examples include but are not limited to organization responsible for administering the immunization and an external record.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No change</a:t>
                      </a:r>
                      <a:r>
                        <a:rPr lang="en-US" sz="1100" dirty="0">
                          <a:solidFill>
                            <a:srgbClr val="1F2933"/>
                          </a:solidFill>
                          <a:latin typeface="Calibri" pitchFamily="34" charset="0"/>
                          <a:ea typeface="Calibri" pitchFamily="34" charset="-122"/>
                          <a:cs typeface="Calibri" pitchFamily="34" charset="-120"/>
                        </a:rPr>
                        <a:t> — </a:t>
                      </a:r>
                      <a:r>
                        <a:rPr lang="en-US" sz="1000" dirty="0">
                          <a:solidFill>
                            <a:srgbClr val="1F2933"/>
                          </a:solidFill>
                          <a:highlight>
                            <a:srgbClr val="EEF1F5"/>
                          </a:highlight>
                          <a:latin typeface="Courier New" pitchFamily="34" charset="0"/>
                          <a:ea typeface="Courier New" pitchFamily="34" charset="-122"/>
                          <a:cs typeface="Courier New" pitchFamily="34" charset="-120"/>
                        </a:rPr>
                        <a:t>Immunization.primarySource</a:t>
                      </a:r>
                      <a:r>
                        <a:rPr lang="en-US" sz="1100" dirty="0">
                          <a:solidFill>
                            <a:srgbClr val="1F2933"/>
                          </a:solidFill>
                          <a:latin typeface="Calibri" pitchFamily="34" charset="0"/>
                          <a:ea typeface="Calibri" pitchFamily="34" charset="-122"/>
                          <a:cs typeface="Calibri" pitchFamily="34" charset="-120"/>
                        </a:rPr>
                        <a:t> is already Must Support.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bl>
          </a:graphicData>
        </a:graphic>
      </p:graphicFrame>
      <p:sp>
        <p:nvSpPr>
          <p:cNvPr id="7" name="Text 4"/>
          <p:cNvSpPr txBox="1"/>
          <p:nvPr/>
        </p:nvSpPr>
        <p:spPr>
          <a:xfrm>
            <a:off x="457200" y="3544824"/>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Open issues/Next steps</a:t>
            </a:r>
            <a:endParaRPr lang="en-US" sz="1400" dirty="0"/>
          </a:p>
        </p:txBody>
      </p:sp>
      <p:sp>
        <p:nvSpPr>
          <p:cNvPr id="8" name="Text 5"/>
          <p:cNvSpPr txBox="1"/>
          <p:nvPr/>
        </p:nvSpPr>
        <p:spPr>
          <a:xfrm>
            <a:off x="457200" y="3864864"/>
            <a:ext cx="11277295" cy="274320"/>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None</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24</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Medical Devices</a:t>
            </a:r>
            <a:endParaRPr lang="en-US" sz="26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https://hackmd.io/Q7IK0ASkRVWrJQF4t3zJTQ</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978408"/>
        </p:xfrm>
        <a:graphic>
          <a:graphicData uri="http://schemas.openxmlformats.org/drawingml/2006/table">
            <a:tbl>
              <a:tblPr/>
              <a:tblGrid>
                <a:gridCol w="3931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150815">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 Element / USCDI Definition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Required Terminology</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Design Decision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64922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Device Type</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Kind of instrument, machine, appliance, implant, software, and similar medical device.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SNOMED CT U.S. Edition, March 2026 Release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No change</a:t>
                      </a:r>
                      <a:r>
                        <a:rPr lang="en-US" sz="1100" dirty="0">
                          <a:solidFill>
                            <a:srgbClr val="1F2933"/>
                          </a:solidFill>
                          <a:latin typeface="Calibri" pitchFamily="34" charset="0"/>
                          <a:ea typeface="Calibri" pitchFamily="34" charset="-122"/>
                          <a:cs typeface="Calibri" pitchFamily="34" charset="-120"/>
                        </a:rPr>
                        <a:t> — </a:t>
                      </a:r>
                      <a:r>
                        <a:rPr lang="en-US" sz="1000" dirty="0">
                          <a:solidFill>
                            <a:srgbClr val="1F2933"/>
                          </a:solidFill>
                          <a:highlight>
                            <a:srgbClr val="EEF1F5"/>
                          </a:highlight>
                          <a:latin typeface="Courier New" pitchFamily="34" charset="0"/>
                          <a:ea typeface="Courier New" pitchFamily="34" charset="-122"/>
                          <a:cs typeface="Courier New" pitchFamily="34" charset="-120"/>
                        </a:rPr>
                        <a:t>Device.type</a:t>
                      </a:r>
                      <a:r>
                        <a:rPr lang="en-US" sz="1100" dirty="0">
                          <a:solidFill>
                            <a:srgbClr val="1F2933"/>
                          </a:solidFill>
                          <a:latin typeface="Calibri" pitchFamily="34" charset="0"/>
                          <a:ea typeface="Calibri" pitchFamily="34" charset="-122"/>
                          <a:cs typeface="Calibri" pitchFamily="34" charset="-120"/>
                        </a:rPr>
                        <a:t> is already Must Support.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7" name="Text 4"/>
          <p:cNvSpPr txBox="1"/>
          <p:nvPr/>
        </p:nvSpPr>
        <p:spPr>
          <a:xfrm>
            <a:off x="457200" y="2560320"/>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Open issues</a:t>
            </a:r>
            <a:endParaRPr lang="en-US" sz="1400" dirty="0"/>
          </a:p>
        </p:txBody>
      </p:sp>
      <p:sp>
        <p:nvSpPr>
          <p:cNvPr id="8" name="Text 5"/>
          <p:cNvSpPr txBox="1"/>
          <p:nvPr/>
        </p:nvSpPr>
        <p:spPr>
          <a:xfrm>
            <a:off x="457200" y="2880360"/>
            <a:ext cx="11277295" cy="274320"/>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Whether to accommodate HCPCS codes (raised in the USCDI comments).</a:t>
            </a:r>
            <a:endParaRPr lang="en-US" sz="1200" dirty="0"/>
          </a:p>
        </p:txBody>
      </p:sp>
      <p:sp>
        <p:nvSpPr>
          <p:cNvPr id="9" name="Text 6"/>
          <p:cNvSpPr txBox="1"/>
          <p:nvPr/>
        </p:nvSpPr>
        <p:spPr>
          <a:xfrm>
            <a:off x="457200" y="3319272"/>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Next steps</a:t>
            </a:r>
            <a:endParaRPr lang="en-US" sz="1400" dirty="0"/>
          </a:p>
        </p:txBody>
      </p:sp>
      <p:sp>
        <p:nvSpPr>
          <p:cNvPr id="10" name="Text 7"/>
          <p:cNvSpPr txBox="1"/>
          <p:nvPr/>
        </p:nvSpPr>
        <p:spPr>
          <a:xfrm>
            <a:off x="457200" y="3639312"/>
            <a:ext cx="11277295" cy="274320"/>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Review terminology</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25</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Problems</a:t>
            </a:r>
            <a:endParaRPr lang="en-US" sz="26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https://hackmd.io/nsjWBx5WQlKQHua_xKhLEQ</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1146048"/>
        </p:xfrm>
        <a:graphic>
          <a:graphicData uri="http://schemas.openxmlformats.org/drawingml/2006/table">
            <a:tbl>
              <a:tblPr/>
              <a:tblGrid>
                <a:gridCol w="3931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150815">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 Element / USCDI Definition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Required Terminology</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Design Decision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81686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Condition Status</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State of a disease, problem, or condition at a given point in time. Examples include but are not limited to active, resolved, recurrence, and remission.</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 in USCDI; US Core already applies a </a:t>
                      </a:r>
                      <a:r>
                        <a:rPr lang="en-US" sz="1100" i="1" dirty="0">
                          <a:solidFill>
                            <a:srgbClr val="1F2933"/>
                          </a:solidFill>
                          <a:latin typeface="Calibri" pitchFamily="34" charset="0"/>
                          <a:ea typeface="Calibri" pitchFamily="34" charset="-122"/>
                          <a:cs typeface="Calibri" pitchFamily="34" charset="-120"/>
                        </a:rPr>
                        <a:t>required</a:t>
                      </a:r>
                      <a:r>
                        <a:rPr lang="en-US" sz="1100" dirty="0">
                          <a:solidFill>
                            <a:srgbClr val="1F2933"/>
                          </a:solidFill>
                          <a:latin typeface="Calibri" pitchFamily="34" charset="0"/>
                          <a:ea typeface="Calibri" pitchFamily="34" charset="-122"/>
                          <a:cs typeface="Calibri" pitchFamily="34" charset="-120"/>
                        </a:rPr>
                        <a:t> binding to the FHIR Condition Clinical Status value set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No change</a:t>
                      </a:r>
                      <a:r>
                        <a:rPr lang="en-US" sz="1100" dirty="0">
                          <a:solidFill>
                            <a:srgbClr val="1F2933"/>
                          </a:solidFill>
                          <a:latin typeface="Calibri" pitchFamily="34" charset="0"/>
                          <a:ea typeface="Calibri" pitchFamily="34" charset="-122"/>
                          <a:cs typeface="Calibri" pitchFamily="34" charset="-120"/>
                        </a:rPr>
                        <a:t> — </a:t>
                      </a:r>
                      <a:r>
                        <a:rPr lang="en-US" sz="1000" dirty="0">
                          <a:solidFill>
                            <a:srgbClr val="1F2933"/>
                          </a:solidFill>
                          <a:highlight>
                            <a:srgbClr val="EEF1F5"/>
                          </a:highlight>
                          <a:latin typeface="Courier New" pitchFamily="34" charset="0"/>
                          <a:ea typeface="Courier New" pitchFamily="34" charset="-122"/>
                          <a:cs typeface="Courier New" pitchFamily="34" charset="-120"/>
                        </a:rPr>
                        <a:t>Condition.clinicalStatus</a:t>
                      </a:r>
                      <a:r>
                        <a:rPr lang="en-US" sz="1100" dirty="0">
                          <a:solidFill>
                            <a:srgbClr val="1F2933"/>
                          </a:solidFill>
                          <a:latin typeface="Calibri" pitchFamily="34" charset="0"/>
                          <a:ea typeface="Calibri" pitchFamily="34" charset="-122"/>
                          <a:cs typeface="Calibri" pitchFamily="34" charset="-120"/>
                        </a:rPr>
                        <a:t> is already Must Support in the US Core Condition Problems and Health Concerns Profile.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7" name="Text 4"/>
          <p:cNvSpPr txBox="1"/>
          <p:nvPr/>
        </p:nvSpPr>
        <p:spPr>
          <a:xfrm>
            <a:off x="457200" y="2727960"/>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Open issues/Next steps</a:t>
            </a:r>
            <a:endParaRPr lang="en-US" sz="1400" dirty="0"/>
          </a:p>
        </p:txBody>
      </p:sp>
      <p:sp>
        <p:nvSpPr>
          <p:cNvPr id="8" name="Text 5"/>
          <p:cNvSpPr txBox="1"/>
          <p:nvPr/>
        </p:nvSpPr>
        <p:spPr>
          <a:xfrm>
            <a:off x="457200" y="3048000"/>
            <a:ext cx="11277295" cy="274320"/>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None</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26</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Procedures</a:t>
            </a:r>
            <a:endParaRPr lang="en-US" sz="26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https://hackmd.io/TLixyzIBRs6Wz_ulqrWUzA</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1146048"/>
        </p:xfrm>
        <a:graphic>
          <a:graphicData uri="http://schemas.openxmlformats.org/drawingml/2006/table">
            <a:tbl>
              <a:tblPr/>
              <a:tblGrid>
                <a:gridCol w="3931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150815">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 Element / USCDI Definition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Required Terminology</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Design Decision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81686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Procedure Status</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The status of planned or performed activity. Examples include but are not limited to in-progress, completed, and not done.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None specified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No change</a:t>
                      </a:r>
                      <a:r>
                        <a:rPr lang="en-US" sz="1100" dirty="0">
                          <a:solidFill>
                            <a:srgbClr val="1F2933"/>
                          </a:solidFill>
                          <a:latin typeface="Calibri" pitchFamily="34" charset="0"/>
                          <a:ea typeface="Calibri" pitchFamily="34" charset="-122"/>
                          <a:cs typeface="Calibri" pitchFamily="34" charset="-120"/>
                        </a:rPr>
                        <a:t> — </a:t>
                      </a:r>
                      <a:r>
                        <a:rPr lang="en-US" sz="1000" dirty="0">
                          <a:solidFill>
                            <a:srgbClr val="1F2933"/>
                          </a:solidFill>
                          <a:highlight>
                            <a:srgbClr val="EEF1F5"/>
                          </a:highlight>
                          <a:latin typeface="Courier New" pitchFamily="34" charset="0"/>
                          <a:ea typeface="Courier New" pitchFamily="34" charset="-122"/>
                          <a:cs typeface="Courier New" pitchFamily="34" charset="-120"/>
                        </a:rPr>
                        <a:t>Procedure.status</a:t>
                      </a:r>
                      <a:r>
                        <a:rPr lang="en-US" sz="1100" dirty="0">
                          <a:solidFill>
                            <a:srgbClr val="1F2933"/>
                          </a:solidFill>
                          <a:latin typeface="Calibri" pitchFamily="34" charset="0"/>
                          <a:ea typeface="Calibri" pitchFamily="34" charset="-122"/>
                          <a:cs typeface="Calibri" pitchFamily="34" charset="-120"/>
                        </a:rPr>
                        <a:t> is already Must Support. (The "not done" case is handled under </a:t>
                      </a:r>
                      <a:r>
                        <a:rPr lang="en-US" sz="1100" u="sng" dirty="0">
                          <a:solidFill>
                            <a:srgbClr val="1D4ED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Healthcare Information Attributes</a:t>
                      </a:r>
                      <a:r>
                        <a:rPr lang="en-US" sz="1100" dirty="0">
                          <a:solidFill>
                            <a:srgbClr val="1F29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7" name="Text 4"/>
          <p:cNvSpPr txBox="1"/>
          <p:nvPr/>
        </p:nvSpPr>
        <p:spPr>
          <a:xfrm>
            <a:off x="457200" y="2727960"/>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Open issues/Next steps</a:t>
            </a:r>
            <a:endParaRPr lang="en-US" sz="1400" dirty="0"/>
          </a:p>
        </p:txBody>
      </p:sp>
      <p:sp>
        <p:nvSpPr>
          <p:cNvPr id="8" name="Text 5"/>
          <p:cNvSpPr txBox="1"/>
          <p:nvPr/>
        </p:nvSpPr>
        <p:spPr>
          <a:xfrm>
            <a:off x="457200" y="3048000"/>
            <a:ext cx="11277295" cy="274320"/>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None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27</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Clinical Notes — Referral Note</a:t>
            </a:r>
            <a:endParaRPr lang="en-US" sz="26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https://hackmd.io/5YMuiYySSzmhFSymS2PHnA</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1313688"/>
        </p:xfrm>
        <a:graphic>
          <a:graphicData uri="http://schemas.openxmlformats.org/drawingml/2006/table">
            <a:tbl>
              <a:tblPr/>
              <a:tblGrid>
                <a:gridCol w="3931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150815">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 Element / USCDI Definition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Required Terminology</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Design Decision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984504">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Referral Note</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Narrative summary requesting an opinion, advice, or service from a clinician. Examples include but are not limited to primary care referral to dermatology, dentistry, and acupuncture.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LOINC version 2.81</a:t>
                      </a:r>
                      <a:endParaRPr lang="en-US" sz="1100" dirty="0">
                        <a:latin typeface="Calibri" charset="0"/>
                        <a:ea typeface="Calibri" charset="0"/>
                        <a:cs typeface="Calibri" charset="0"/>
                      </a:endParaRPr>
                    </a:p>
                    <a:p>
                      <a:pPr marL="0" indent="0" algn="l">
                        <a:buNone/>
                      </a:pPr>
                      <a:r>
                        <a:rPr lang="en-US" sz="1100" dirty="0">
                          <a:solidFill>
                            <a:srgbClr val="1F2933"/>
                          </a:solidFill>
                          <a:latin typeface="Calibri" pitchFamily="34" charset="0"/>
                          <a:ea typeface="Calibri" pitchFamily="34" charset="-122"/>
                          <a:cs typeface="Calibri" pitchFamily="34" charset="-120"/>
                        </a:rPr>
                        <a:t>At minimum: </a:t>
                      </a:r>
                      <a:r>
                        <a:rPr lang="en-US" sz="1100" b="1" dirty="0">
                          <a:solidFill>
                            <a:srgbClr val="1F2933"/>
                          </a:solidFill>
                          <a:latin typeface="Calibri" pitchFamily="34" charset="0"/>
                          <a:ea typeface="Calibri" pitchFamily="34" charset="-122"/>
                          <a:cs typeface="Calibri" pitchFamily="34" charset="-120"/>
                        </a:rPr>
                        <a:t>Referral note (LOINC 57133-1)</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Add Referral note (LOINC 57133-1) to the US Core minimum Clinical Note Type value set and to the </a:t>
                      </a:r>
                      <a:r>
                        <a:rPr lang="en-US" sz="1100" u="sng" dirty="0">
                          <a:solidFill>
                            <a:srgbClr val="1D4ED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"Common Clinical Notes" list</a:t>
                      </a:r>
                      <a:r>
                        <a:rPr lang="en-US" sz="1100" dirty="0">
                          <a:solidFill>
                            <a:srgbClr val="1F2933"/>
                          </a:solidFill>
                          <a:latin typeface="Calibri" pitchFamily="34" charset="0"/>
                          <a:ea typeface="Calibri" pitchFamily="34" charset="-122"/>
                          <a:cs typeface="Calibri" pitchFamily="34" charset="-120"/>
                        </a:rPr>
                        <a:t> on the Clinical Notes guidance page.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7" name="Text 4"/>
          <p:cNvSpPr txBox="1"/>
          <p:nvPr/>
        </p:nvSpPr>
        <p:spPr>
          <a:xfrm>
            <a:off x="457200" y="2895600"/>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Open issues</a:t>
            </a:r>
            <a:endParaRPr lang="en-US" sz="1400" dirty="0"/>
          </a:p>
        </p:txBody>
      </p:sp>
      <p:sp>
        <p:nvSpPr>
          <p:cNvPr id="8" name="Text 5"/>
          <p:cNvSpPr txBox="1"/>
          <p:nvPr/>
        </p:nvSpPr>
        <p:spPr>
          <a:xfrm>
            <a:off x="457200" y="3215640"/>
            <a:ext cx="11277295" cy="274320"/>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Relationship to Referral Order (the existing Reason for Referral data element in the </a:t>
            </a:r>
            <a:r>
              <a:rPr lang="en-US" sz="1200" u="sng" dirty="0">
                <a:solidFill>
                  <a:srgbClr val="1D4ED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Orders</a:t>
            </a:r>
            <a:r>
              <a:rPr lang="en-US" sz="1200" dirty="0">
                <a:solidFill>
                  <a:srgbClr val="1F2933"/>
                </a:solidFill>
                <a:latin typeface="Calibri" pitchFamily="34" charset="0"/>
                <a:ea typeface="Calibri" pitchFamily="34" charset="-122"/>
                <a:cs typeface="Calibri" pitchFamily="34" charset="-120"/>
              </a:rPr>
              <a:t> class) — a narrative note vs. a ServiceRequest.</a:t>
            </a:r>
            <a:endParaRPr lang="en-US" sz="1200" dirty="0"/>
          </a:p>
        </p:txBody>
      </p:sp>
      <p:sp>
        <p:nvSpPr>
          <p:cNvPr id="9" name="Text 6">
            <a:extLst>
              <a:ext uri="{FF2B5EF4-FFF2-40B4-BE49-F238E27FC236}">
                <a16:creationId xmlns:a16="http://schemas.microsoft.com/office/drawing/2014/main" id="{372B0E4F-83FE-30ED-C58D-3BBCB6D1A014}"/>
              </a:ext>
            </a:extLst>
          </p:cNvPr>
          <p:cNvSpPr txBox="1"/>
          <p:nvPr/>
        </p:nvSpPr>
        <p:spPr>
          <a:xfrm>
            <a:off x="457200" y="3532632"/>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Next steps</a:t>
            </a:r>
            <a:endParaRPr lang="en-US" sz="1400" dirty="0"/>
          </a:p>
        </p:txBody>
      </p:sp>
      <p:sp>
        <p:nvSpPr>
          <p:cNvPr id="10" name="Text 7">
            <a:extLst>
              <a:ext uri="{FF2B5EF4-FFF2-40B4-BE49-F238E27FC236}">
                <a16:creationId xmlns:a16="http://schemas.microsoft.com/office/drawing/2014/main" id="{076AD7C5-0298-E92F-A9AB-36F708FB3DCB}"/>
              </a:ext>
            </a:extLst>
          </p:cNvPr>
          <p:cNvSpPr txBox="1"/>
          <p:nvPr/>
        </p:nvSpPr>
        <p:spPr>
          <a:xfrm>
            <a:off x="457200" y="3852672"/>
            <a:ext cx="11277295" cy="274320"/>
          </a:xfrm>
          <a:prstGeom prst="rect">
            <a:avLst/>
          </a:prstGeom>
          <a:noFill/>
          <a:ln/>
        </p:spPr>
        <p:txBody>
          <a:bodyPr wrap="square" lIns="0" tIns="0" rIns="0" bIns="0" rtlCol="0" anchor="t"/>
          <a:lstStyle/>
          <a:p>
            <a:pPr marL="228600" indent="-2286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Review whether any action needed on the issue</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28</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000" b="1" dirty="0">
                <a:solidFill>
                  <a:srgbClr val="1F3A5F"/>
                </a:solidFill>
                <a:latin typeface="Cambria" pitchFamily="34" charset="0"/>
                <a:ea typeface="Cambria" pitchFamily="34" charset="-122"/>
                <a:cs typeface="Cambria" pitchFamily="34" charset="-120"/>
              </a:rPr>
              <a:t>Other USCDI v7 Changes (renames, reclassifications, added standards)</a:t>
            </a:r>
            <a:endParaRPr lang="en-US" sz="2000" dirty="0"/>
          </a:p>
        </p:txBody>
      </p:sp>
      <p:sp>
        <p:nvSpPr>
          <p:cNvPr id="5" name="Text 3"/>
          <p:cNvSpPr txBox="1"/>
          <p:nvPr/>
        </p:nvSpPr>
        <p:spPr>
          <a:xfrm>
            <a:off x="457200" y="960120"/>
            <a:ext cx="11277295" cy="274320"/>
          </a:xfrm>
          <a:prstGeom prst="rect">
            <a:avLst/>
          </a:prstGeom>
          <a:noFill/>
          <a:ln/>
        </p:spPr>
        <p:txBody>
          <a:bodyPr wrap="square" lIns="0" tIns="0" rIns="0" bIns="0" rtlCol="0" anchor="ctr"/>
          <a:lstStyle/>
          <a:p>
            <a:pPr marL="0" indent="0">
              <a:buNone/>
            </a:pPr>
            <a:r>
              <a:rPr lang="en-US" sz="1100" u="sng" dirty="0">
                <a:solidFill>
                  <a:srgbClr val="1D4ED8"/>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Design page ↗</a:t>
            </a:r>
            <a:r>
              <a:rPr lang="en-US" sz="1100" dirty="0">
                <a:solidFill>
                  <a:srgbClr val="6B7280"/>
                </a:solidFill>
                <a:latin typeface="Calibri" pitchFamily="34" charset="0"/>
                <a:ea typeface="Calibri" pitchFamily="34" charset="-122"/>
                <a:cs typeface="Calibri" pitchFamily="34" charset="-120"/>
              </a:rPr>
              <a:t>   https://hackmd.io/D5TZacmHQKqkcniD-aT-Ag</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7295" cy="3721608"/>
        </p:xfrm>
        <a:graphic>
          <a:graphicData uri="http://schemas.openxmlformats.org/drawingml/2006/table">
            <a:tbl>
              <a:tblPr/>
              <a:tblGrid>
                <a:gridCol w="2194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602175">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Change Category</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Items</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Design Decision</a:t>
                      </a:r>
                      <a:endParaRPr lang="en-US" sz="1100" dirty="0">
                        <a:latin typeface="Calibri" charset="0"/>
                        <a:ea typeface="Calibri" charset="0"/>
                        <a:cs typeface="Calibri" charset="0"/>
                      </a:endParaRPr>
                    </a:p>
                  </a:txBody>
                  <a:tcPr marL="73152" marR="73152"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31394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Reclassified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Health Concern, Indication, Performance Time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Reconcile the USCDI mapping and the profile narrative.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158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Names revised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19 elements, including Problem, Procedure, Test, Patient Goal, and the Health Insurance cluster</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Reconcile the USCDI mapping and the profile narrative.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48158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Definitions revised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Author Role, Discharge Summary Note, Indication, Patient Goal, Performance Time, Problem, Procedure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Adjust usage notes if needed.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686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Standards added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Tobacco Use; Coverage Type (SOPT 9.2); Patient Goal (LOINC, SNOMED CT); Pregnancy Status (LOINC)</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b="1" dirty="0">
                          <a:solidFill>
                            <a:srgbClr val="1F2933"/>
                          </a:solidFill>
                          <a:latin typeface="Calibri" pitchFamily="34" charset="0"/>
                          <a:ea typeface="Calibri" pitchFamily="34" charset="-122"/>
                          <a:cs typeface="Calibri" pitchFamily="34" charset="-120"/>
                        </a:rPr>
                        <a:t>No terminology changes identified.</a:t>
                      </a:r>
                      <a:r>
                        <a:rPr lang="en-US" sz="1100" dirty="0">
                          <a:solidFill>
                            <a:srgbClr val="1F2933"/>
                          </a:solidFill>
                          <a:latin typeface="Calibri" pitchFamily="34" charset="0"/>
                          <a:ea typeface="Calibri" pitchFamily="34" charset="-122"/>
                          <a:cs typeface="Calibri" pitchFamily="34" charset="-120"/>
                        </a:rPr>
                        <a:t> Tobacco Use is handled in </a:t>
                      </a:r>
                      <a:r>
                        <a:rPr lang="en-US" sz="1100" u="sng" dirty="0">
                          <a:solidFill>
                            <a:srgbClr val="1D4ED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Health Status Assessments</a:t>
                      </a:r>
                      <a:r>
                        <a:rPr lang="en-US" sz="1100" dirty="0">
                          <a:solidFill>
                            <a:srgbClr val="1F2933"/>
                          </a:solidFill>
                          <a:latin typeface="Calibri" pitchFamily="34" charset="0"/>
                          <a:ea typeface="Calibri" pitchFamily="34" charset="-122"/>
                          <a:cs typeface="Calibri" pitchFamily="34" charset="-120"/>
                        </a:rPr>
                        <a:t>. SOPT 9.2 is already used by the US Core Coverage Profile. Patient Goal already uses LOINC and SNOMED CT. Pregnancy Status already uses LOINC for </a:t>
                      </a:r>
                      <a:r>
                        <a:rPr lang="en-US" sz="1000" dirty="0">
                          <a:solidFill>
                            <a:srgbClr val="1F2933"/>
                          </a:solidFill>
                          <a:highlight>
                            <a:srgbClr val="EEF1F5"/>
                          </a:highlight>
                          <a:latin typeface="Courier New" pitchFamily="34" charset="0"/>
                          <a:ea typeface="Courier New" pitchFamily="34" charset="-122"/>
                          <a:cs typeface="Courier New" pitchFamily="34" charset="-120"/>
                        </a:rPr>
                        <a:t>Observation.code</a:t>
                      </a:r>
                      <a:r>
                        <a:rPr lang="en-US" sz="1100" dirty="0">
                          <a:solidFill>
                            <a:srgbClr val="1F29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48158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Consolidated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SDOH Goals → Patient Goal; SDOH Problems/Health Concerns → Problem; SDOH Interventions → Procedure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Review the documentation for realignment if needed.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816864">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Must Support elements with an existing home</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Condition Status, Procedure Status, Patient Identifier, Device Type, Facility Telecom, Health Insurance cluster, Immunization Status/Source, Medication Dispense Quantity, Diagnostic Report Date, Allergy Criticality, Deceased Indicator, Specimen Collection Method</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tc>
                  <a:txBody>
                    <a:bodyPr/>
                    <a:lstStyle/>
                    <a:p>
                      <a:pPr marL="0" indent="0" algn="l">
                        <a:buNone/>
                      </a:pPr>
                      <a:r>
                        <a:rPr lang="en-US" sz="1100" dirty="0">
                          <a:solidFill>
                            <a:srgbClr val="1F2933"/>
                          </a:solidFill>
                          <a:latin typeface="Calibri" pitchFamily="34" charset="0"/>
                          <a:ea typeface="Calibri" pitchFamily="34" charset="-122"/>
                          <a:cs typeface="Calibri" pitchFamily="34" charset="-120"/>
                        </a:rPr>
                        <a:t>Update the USCDI mapping entries.</a:t>
                      </a:r>
                      <a:endParaRPr lang="en-US" sz="1100" dirty="0">
                        <a:latin typeface="Calibri" charset="0"/>
                        <a:ea typeface="Calibri" charset="0"/>
                        <a:cs typeface="Calibri" charset="0"/>
                      </a:endParaRPr>
                    </a:p>
                  </a:txBody>
                  <a:tcPr marL="73152" marR="73152" marT="54864" marB="54864">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F3A5F"/>
        </a:solidFill>
        <a:effectLst/>
      </p:bgPr>
    </p:bg>
    <p:spTree>
      <p:nvGrpSpPr>
        <p:cNvPr id="1" name="">
          <a:extLst>
            <a:ext uri="{FF2B5EF4-FFF2-40B4-BE49-F238E27FC236}">
              <a16:creationId xmlns:a16="http://schemas.microsoft.com/office/drawing/2014/main" id="{5E836E69-F5CF-0EEC-72BF-CD5131DABFC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D8DDA6B-6AAE-BF62-F0CF-6210430DD6B1}"/>
              </a:ext>
            </a:extLst>
          </p:cNvPr>
          <p:cNvSpPr txBox="1"/>
          <p:nvPr/>
        </p:nvSpPr>
        <p:spPr>
          <a:xfrm>
            <a:off x="914400" y="2651760"/>
            <a:ext cx="10362895" cy="128016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Next Steps</a:t>
            </a:r>
          </a:p>
        </p:txBody>
      </p:sp>
      <p:sp>
        <p:nvSpPr>
          <p:cNvPr id="3" name="TextBox 2">
            <a:extLst>
              <a:ext uri="{FF2B5EF4-FFF2-40B4-BE49-F238E27FC236}">
                <a16:creationId xmlns:a16="http://schemas.microsoft.com/office/drawing/2014/main" id="{3BAC117F-941D-5D5A-95CB-273AB4CE52F1}"/>
              </a:ext>
            </a:extLst>
          </p:cNvPr>
          <p:cNvSpPr txBox="1"/>
          <p:nvPr/>
        </p:nvSpPr>
        <p:spPr>
          <a:xfrm>
            <a:off x="1367639" y="5506720"/>
            <a:ext cx="4795159" cy="923330"/>
          </a:xfrm>
          <a:prstGeom prst="rect">
            <a:avLst/>
          </a:prstGeom>
          <a:noFill/>
        </p:spPr>
        <p:txBody>
          <a:bodyPr wrap="none" rtlCol="0">
            <a:spAutoFit/>
          </a:bodyPr>
          <a:lstStyle/>
          <a:p>
            <a:endParaRPr lang="en-US" sz="1800" dirty="0"/>
          </a:p>
          <a:p>
            <a:r>
              <a:rPr lang="en-US" sz="1800" dirty="0"/>
              <a:t>📅 </a:t>
            </a:r>
            <a:r>
              <a:rPr lang="en-US" b="1" dirty="0">
                <a:solidFill>
                  <a:srgbClr val="FFFFFF"/>
                </a:solidFill>
                <a:latin typeface="Cambria" pitchFamily="34" charset="0"/>
              </a:rPr>
              <a:t>S</a:t>
            </a:r>
            <a:r>
              <a:rPr lang="en-US" sz="1800" b="1" dirty="0">
                <a:solidFill>
                  <a:srgbClr val="FFFFFF"/>
                </a:solidFill>
                <a:latin typeface="Cambria" pitchFamily="34" charset="0"/>
              </a:rPr>
              <a:t>ymbol means we will </a:t>
            </a:r>
            <a:r>
              <a:rPr lang="en-US" b="1" dirty="0">
                <a:solidFill>
                  <a:srgbClr val="FFFFFF"/>
                </a:solidFill>
                <a:latin typeface="Cambria" pitchFamily="34" charset="0"/>
              </a:rPr>
              <a:t>d</a:t>
            </a:r>
            <a:r>
              <a:rPr lang="en-US" sz="1800" b="1" dirty="0">
                <a:solidFill>
                  <a:srgbClr val="FFFFFF"/>
                </a:solidFill>
                <a:latin typeface="Cambria" pitchFamily="34" charset="0"/>
              </a:rPr>
              <a:t>iscuss this week</a:t>
            </a:r>
            <a:endParaRPr lang="en-US" sz="1800" dirty="0"/>
          </a:p>
          <a:p>
            <a:endParaRPr lang="en-US" dirty="0"/>
          </a:p>
        </p:txBody>
      </p:sp>
      <p:pic>
        <p:nvPicPr>
          <p:cNvPr id="4" name="Picture 3" descr="A blue and white logo&#10;&#10;Description automatically generated">
            <a:extLst>
              <a:ext uri="{FF2B5EF4-FFF2-40B4-BE49-F238E27FC236}">
                <a16:creationId xmlns:a16="http://schemas.microsoft.com/office/drawing/2014/main" id="{8038F081-237D-9FE9-2A7C-506C8158DC45}"/>
              </a:ext>
            </a:extLst>
          </p:cNvPr>
          <p:cNvPicPr>
            <a:picLocks noChangeAspect="1"/>
          </p:cNvPicPr>
          <p:nvPr/>
        </p:nvPicPr>
        <p:blipFill>
          <a:blip r:embed="rId3"/>
          <a:stretch>
            <a:fillRect/>
          </a:stretch>
        </p:blipFill>
        <p:spPr>
          <a:xfrm>
            <a:off x="457200" y="274320"/>
            <a:ext cx="1456469" cy="1280160"/>
          </a:xfrm>
          <a:prstGeom prst="rect">
            <a:avLst/>
          </a:prstGeom>
        </p:spPr>
      </p:pic>
      <p:pic>
        <p:nvPicPr>
          <p:cNvPr id="5" name="Picture 4" descr="A logo with stars and stripes&#10;&#10;Description automatically generated">
            <a:extLst>
              <a:ext uri="{FF2B5EF4-FFF2-40B4-BE49-F238E27FC236}">
                <a16:creationId xmlns:a16="http://schemas.microsoft.com/office/drawing/2014/main" id="{81E0C578-0A57-3ED8-06A6-FCA29A2680B0}"/>
              </a:ext>
            </a:extLst>
          </p:cNvPr>
          <p:cNvPicPr>
            <a:picLocks noChangeAspect="1"/>
          </p:cNvPicPr>
          <p:nvPr/>
        </p:nvPicPr>
        <p:blipFill>
          <a:blip r:embed="rId4"/>
          <a:stretch>
            <a:fillRect/>
          </a:stretch>
        </p:blipFill>
        <p:spPr>
          <a:xfrm>
            <a:off x="2132273" y="274320"/>
            <a:ext cx="1280160" cy="1280160"/>
          </a:xfrm>
          <a:prstGeom prst="rect">
            <a:avLst/>
          </a:prstGeom>
        </p:spPr>
      </p:pic>
    </p:spTree>
    <p:extLst>
      <p:ext uri="{BB962C8B-B14F-4D97-AF65-F5344CB8AC3E}">
        <p14:creationId xmlns:p14="http://schemas.microsoft.com/office/powerpoint/2010/main" val="1191062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3000" b="1" dirty="0">
                <a:solidFill>
                  <a:srgbClr val="1F3A5F"/>
                </a:solidFill>
                <a:latin typeface="Cambria" pitchFamily="34" charset="0"/>
                <a:ea typeface="Cambria" pitchFamily="34" charset="-122"/>
                <a:cs typeface="Cambria" pitchFamily="34" charset="-120"/>
              </a:rPr>
              <a:t>Completed Designs</a:t>
            </a:r>
            <a:endParaRPr lang="en-US" sz="3000" dirty="0"/>
          </a:p>
        </p:txBody>
      </p:sp>
      <p:sp>
        <p:nvSpPr>
          <p:cNvPr id="3" name="Text 1"/>
          <p:cNvSpPr txBox="1"/>
          <p:nvPr/>
        </p:nvSpPr>
        <p:spPr>
          <a:xfrm>
            <a:off x="457200" y="1188720"/>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No change — already Must Support in US Core</a:t>
            </a:r>
            <a:endParaRPr lang="en-US" sz="1400" dirty="0"/>
          </a:p>
        </p:txBody>
      </p:sp>
      <p:sp>
        <p:nvSpPr>
          <p:cNvPr id="4" name="Text 2"/>
          <p:cNvSpPr txBox="1"/>
          <p:nvPr/>
        </p:nvSpPr>
        <p:spPr>
          <a:xfrm>
            <a:off x="457200" y="1508760"/>
            <a:ext cx="11277295" cy="3172968"/>
          </a:xfrm>
          <a:prstGeom prst="rect">
            <a:avLst/>
          </a:prstGeom>
          <a:noFill/>
          <a:ln/>
        </p:spPr>
        <p:txBody>
          <a:bodyPr wrap="square" lIns="0" tIns="0" rIns="0" bIns="0" rtlCol="0" anchor="t"/>
          <a:lstStyle/>
          <a:p>
            <a:pPr marL="254000" indent="-2540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Diagnostic Report Date and Time</a:t>
            </a:r>
            <a:endParaRPr lang="en-US" sz="1200" dirty="0"/>
          </a:p>
          <a:p>
            <a:pPr marL="254000" indent="-2540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Medication Dispense Quantity</a:t>
            </a:r>
            <a:endParaRPr lang="en-US" sz="1200" dirty="0"/>
          </a:p>
          <a:p>
            <a:pPr marL="254000" indent="-2540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Deceased Indicator</a:t>
            </a:r>
            <a:endParaRPr lang="en-US" sz="1200" dirty="0"/>
          </a:p>
          <a:p>
            <a:pPr marL="254000" indent="-2540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Patient Identifier</a:t>
            </a:r>
            <a:endParaRPr lang="en-US" sz="1200" dirty="0"/>
          </a:p>
          <a:p>
            <a:pPr marL="254000" indent="-2540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Facility Telecom</a:t>
            </a:r>
            <a:endParaRPr lang="en-US" sz="1200" dirty="0"/>
          </a:p>
          <a:p>
            <a:pPr marL="254000" indent="-2540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Health Insurance Coverage Period</a:t>
            </a:r>
            <a:endParaRPr lang="en-US" sz="1200" dirty="0"/>
          </a:p>
          <a:p>
            <a:pPr marL="254000" indent="-2540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Health Insurance Payer</a:t>
            </a:r>
            <a:endParaRPr lang="en-US" sz="1200" dirty="0"/>
          </a:p>
          <a:p>
            <a:pPr marL="254000" indent="-2540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Health Insurance Plan</a:t>
            </a:r>
            <a:endParaRPr lang="en-US" sz="1200" dirty="0"/>
          </a:p>
          <a:p>
            <a:pPr marL="254000" indent="-2540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Health Insurance Plan Identifier</a:t>
            </a:r>
            <a:endParaRPr lang="en-US" sz="1200" dirty="0"/>
          </a:p>
          <a:p>
            <a:pPr marL="254000" indent="-2540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Immunization Status</a:t>
            </a:r>
            <a:endParaRPr lang="en-US" sz="1200" dirty="0"/>
          </a:p>
          <a:p>
            <a:pPr marL="254000" indent="-2540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Immunization Record Source</a:t>
            </a:r>
            <a:endParaRPr lang="en-US" sz="1200" dirty="0"/>
          </a:p>
          <a:p>
            <a:pPr marL="254000" indent="-2540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Device Type</a:t>
            </a:r>
            <a:endParaRPr lang="en-US" sz="1200" dirty="0"/>
          </a:p>
          <a:p>
            <a:pPr marL="254000" indent="-2540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Condition Status</a:t>
            </a:r>
            <a:endParaRPr lang="en-US" sz="1200" dirty="0"/>
          </a:p>
          <a:p>
            <a:pPr marL="254000" indent="-2540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Procedure Status</a:t>
            </a:r>
            <a:endParaRPr lang="en-US" sz="1200" dirty="0"/>
          </a:p>
        </p:txBody>
      </p:sp>
      <p:sp>
        <p:nvSpPr>
          <p:cNvPr id="5" name="Text 3"/>
          <p:cNvSpPr txBox="1"/>
          <p:nvPr/>
        </p:nvSpPr>
        <p:spPr>
          <a:xfrm>
            <a:off x="457200" y="4846320"/>
            <a:ext cx="11277295" cy="274320"/>
          </a:xfrm>
          <a:prstGeom prst="rect">
            <a:avLst/>
          </a:prstGeom>
          <a:noFill/>
          <a:ln/>
        </p:spPr>
        <p:txBody>
          <a:bodyPr wrap="square" lIns="0" tIns="0" rIns="0" bIns="0" rtlCol="0" anchor="b"/>
          <a:lstStyle/>
          <a:p>
            <a:pPr marL="0" indent="0">
              <a:buNone/>
            </a:pPr>
            <a:r>
              <a:rPr lang="en-US" sz="1400" b="1" dirty="0">
                <a:solidFill>
                  <a:srgbClr val="1F3A5F"/>
                </a:solidFill>
                <a:latin typeface="Calibri" pitchFamily="34" charset="0"/>
                <a:ea typeface="Calibri" pitchFamily="34" charset="-122"/>
                <a:cs typeface="Calibri" pitchFamily="34" charset="-120"/>
              </a:rPr>
              <a:t>Design decided — new elements and value set changes</a:t>
            </a:r>
            <a:endParaRPr lang="en-US" sz="1400" dirty="0"/>
          </a:p>
        </p:txBody>
      </p:sp>
      <p:sp>
        <p:nvSpPr>
          <p:cNvPr id="6" name="Text 4"/>
          <p:cNvSpPr txBox="1"/>
          <p:nvPr/>
        </p:nvSpPr>
        <p:spPr>
          <a:xfrm>
            <a:off x="457200" y="5166360"/>
            <a:ext cx="11277295" cy="1156716"/>
          </a:xfrm>
          <a:prstGeom prst="rect">
            <a:avLst/>
          </a:prstGeom>
          <a:noFill/>
          <a:ln/>
        </p:spPr>
        <p:txBody>
          <a:bodyPr wrap="square" lIns="0" tIns="0" rIns="0" bIns="0" rtlCol="0" anchor="t"/>
          <a:lstStyle/>
          <a:p>
            <a:pPr marL="254000" indent="-2540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Allergy Intolerance Criticality</a:t>
            </a:r>
            <a:endParaRPr lang="en-US" sz="1200" dirty="0"/>
          </a:p>
          <a:p>
            <a:pPr marL="254000" indent="-2540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Specimen Collection Date and Time</a:t>
            </a:r>
            <a:endParaRPr lang="en-US" sz="1200" dirty="0"/>
          </a:p>
          <a:p>
            <a:pPr marL="254000" indent="-2540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Specimen Collection Method</a:t>
            </a:r>
            <a:endParaRPr lang="en-US" sz="1200" dirty="0"/>
          </a:p>
          <a:p>
            <a:pPr marL="254000" indent="-2540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Referral Order</a:t>
            </a:r>
            <a:endParaRPr lang="en-US" sz="1200" dirty="0"/>
          </a:p>
          <a:p>
            <a:pPr marL="254000" indent="-254000">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Referral Note</a:t>
            </a:r>
            <a:endParaRPr lang="en-US" sz="1200" dirty="0"/>
          </a:p>
        </p:txBody>
      </p:sp>
      <p:sp>
        <p:nvSpPr>
          <p:cNvPr id="7" name="Text 5"/>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6519672"/>
            <a:ext cx="5486400" cy="27432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US Core V10 · USCDI v7 Design Decisions</a:t>
            </a:r>
            <a:endParaRPr lang="en-US" sz="900" dirty="0"/>
          </a:p>
        </p:txBody>
      </p:sp>
      <p:sp>
        <p:nvSpPr>
          <p:cNvPr id="3" name="Text 1"/>
          <p:cNvSpPr txBox="1"/>
          <p:nvPr/>
        </p:nvSpPr>
        <p:spPr>
          <a:xfrm>
            <a:off x="10820095" y="6519672"/>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29</a:t>
            </a:r>
            <a:endParaRPr lang="en-US" sz="900" dirty="0"/>
          </a:p>
        </p:txBody>
      </p:sp>
      <p:sp>
        <p:nvSpPr>
          <p:cNvPr id="4" name="Text 2"/>
          <p:cNvSpPr txBox="1"/>
          <p:nvPr/>
        </p:nvSpPr>
        <p:spPr>
          <a:xfrm>
            <a:off x="457200" y="365760"/>
            <a:ext cx="11277295" cy="548640"/>
          </a:xfrm>
          <a:prstGeom prst="rect">
            <a:avLst/>
          </a:prstGeom>
          <a:noFill/>
          <a:ln/>
        </p:spPr>
        <p:txBody>
          <a:bodyPr wrap="square" lIns="0" tIns="0" rIns="0" bIns="0" rtlCol="0" anchor="ctr"/>
          <a:lstStyle/>
          <a:p>
            <a:pPr marL="0" indent="0">
              <a:buNone/>
            </a:pPr>
            <a:r>
              <a:rPr lang="en-US" sz="2600" b="1" dirty="0">
                <a:solidFill>
                  <a:srgbClr val="1F3A5F"/>
                </a:solidFill>
                <a:latin typeface="Cambria" pitchFamily="34" charset="0"/>
                <a:ea typeface="Cambria" pitchFamily="34" charset="-122"/>
                <a:cs typeface="Cambria" pitchFamily="34" charset="-120"/>
              </a:rPr>
              <a:t>Next Steps</a:t>
            </a:r>
            <a:endParaRPr lang="en-US" sz="2600" dirty="0"/>
          </a:p>
        </p:txBody>
      </p:sp>
      <p:sp>
        <p:nvSpPr>
          <p:cNvPr id="7" name="Text 5"/>
          <p:cNvSpPr txBox="1"/>
          <p:nvPr/>
        </p:nvSpPr>
        <p:spPr>
          <a:xfrm>
            <a:off x="457200" y="1966976"/>
            <a:ext cx="11277295" cy="274320"/>
          </a:xfrm>
          <a:prstGeom prst="rect">
            <a:avLst/>
          </a:prstGeom>
          <a:noFill/>
          <a:ln/>
        </p:spPr>
        <p:txBody>
          <a:bodyPr wrap="square" lIns="0" tIns="0" rIns="0" bIns="0" rtlCol="0" anchor="b"/>
          <a:lstStyle/>
          <a:p>
            <a:r>
              <a:rPr lang="en-US" sz="1400" b="1" dirty="0">
                <a:solidFill>
                  <a:srgbClr val="1F3A5F"/>
                </a:solidFill>
                <a:latin typeface="Calibri" pitchFamily="34" charset="0"/>
                <a:ea typeface="Calibri" pitchFamily="34" charset="-122"/>
                <a:cs typeface="Calibri" pitchFamily="34" charset="-120"/>
              </a:rPr>
              <a:t>Decisions still needed  (</a:t>
            </a:r>
            <a:r>
              <a:rPr lang="en-US" sz="1200" dirty="0"/>
              <a:t>📅</a:t>
            </a:r>
            <a:r>
              <a:rPr lang="en-US" sz="1400" dirty="0"/>
              <a:t> </a:t>
            </a:r>
            <a:r>
              <a:rPr lang="en-US" sz="1400" b="1" dirty="0">
                <a:latin typeface="Cambria" pitchFamily="34" charset="0"/>
              </a:rPr>
              <a:t>discuss this week)</a:t>
            </a:r>
            <a:r>
              <a:rPr lang="en-US" sz="1400" b="1" dirty="0">
                <a:solidFill>
                  <a:srgbClr val="FFFFFF"/>
                </a:solidFill>
                <a:latin typeface="Cambria" pitchFamily="34" charset="0"/>
              </a:rPr>
              <a:t>means we will discuss this week</a:t>
            </a:r>
            <a:endParaRPr lang="en-US" sz="1400" dirty="0"/>
          </a:p>
        </p:txBody>
      </p:sp>
      <p:sp>
        <p:nvSpPr>
          <p:cNvPr id="8" name="Text 6"/>
          <p:cNvSpPr txBox="1"/>
          <p:nvPr/>
        </p:nvSpPr>
        <p:spPr>
          <a:xfrm>
            <a:off x="457200" y="2287016"/>
            <a:ext cx="11277295" cy="2620264"/>
          </a:xfrm>
          <a:prstGeom prst="rect">
            <a:avLst/>
          </a:prstGeom>
          <a:noFill/>
          <a:ln/>
        </p:spPr>
        <p:txBody>
          <a:bodyPr wrap="square" lIns="0" tIns="0" rIns="0" bIns="0" rtlCol="0" anchor="t"/>
          <a:lstStyle/>
          <a:p>
            <a:pPr marL="254000" indent="-254000">
              <a:spcAft>
                <a:spcPts val="400"/>
              </a:spcAft>
              <a:buSzPct val="100000"/>
              <a:buChar char="☐"/>
            </a:pPr>
            <a:r>
              <a:rPr lang="en-US" sz="1200" dirty="0"/>
              <a:t>📅  </a:t>
            </a:r>
            <a:r>
              <a:rPr lang="en-US" sz="1200" dirty="0">
                <a:solidFill>
                  <a:srgbClr val="1F2933"/>
                </a:solidFill>
                <a:latin typeface="Calibri" pitchFamily="34" charset="0"/>
                <a:ea typeface="Calibri" pitchFamily="34" charset="-122"/>
                <a:cs typeface="Calibri" pitchFamily="34" charset="-120"/>
              </a:rPr>
              <a:t>Healthcare Information Attributes: negation binding, search conformance, and the US Quality Core alignment now that its ballot has closed.</a:t>
            </a:r>
            <a:endParaRPr lang="en-US" sz="1200" dirty="0"/>
          </a:p>
          <a:p>
            <a:pPr marL="254000" indent="-254000">
              <a:spcAft>
                <a:spcPts val="400"/>
              </a:spcAft>
              <a:buSzPct val="100000"/>
              <a:buChar char="☐"/>
            </a:pPr>
            <a:r>
              <a:rPr lang="en-US" sz="1200" dirty="0"/>
              <a:t>📅  </a:t>
            </a:r>
            <a:r>
              <a:rPr lang="en-US" sz="1200" dirty="0">
                <a:solidFill>
                  <a:srgbClr val="1F2933"/>
                </a:solidFill>
                <a:latin typeface="Calibri" pitchFamily="34" charset="0"/>
                <a:ea typeface="Calibri" pitchFamily="34" charset="-122"/>
                <a:cs typeface="Calibri" pitchFamily="34" charset="-120"/>
              </a:rPr>
              <a:t>Adverse Events: finalize the list of profiles carrying condition and outcome, and draft the guidance.</a:t>
            </a:r>
            <a:endParaRPr lang="en-US" sz="1200" dirty="0"/>
          </a:p>
          <a:p>
            <a:pPr marL="254000" indent="-254000">
              <a:spcAft>
                <a:spcPts val="400"/>
              </a:spcAft>
              <a:buSzPct val="100000"/>
              <a:buChar char="☐"/>
            </a:pPr>
            <a:r>
              <a:rPr lang="en-US" sz="1200" dirty="0"/>
              <a:t>📅  </a:t>
            </a:r>
            <a:r>
              <a:rPr lang="en-US" sz="1200" dirty="0">
                <a:solidFill>
                  <a:srgbClr val="1F2933"/>
                </a:solidFill>
                <a:latin typeface="Calibri" pitchFamily="34" charset="0"/>
                <a:ea typeface="Calibri" pitchFamily="34" charset="-122"/>
                <a:cs typeface="Calibri" pitchFamily="34" charset="-120"/>
              </a:rPr>
              <a:t>Diagnostic Imaging Reference: resolve the ImagingStudy profile, server choice, reference depth, and search questions (vendor input requested).</a:t>
            </a:r>
            <a:endParaRPr lang="en-US" sz="1200" dirty="0"/>
          </a:p>
          <a:p>
            <a:pPr marL="254000" indent="-2540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Patient Demographics: choose between the Accommodation Observation profile and Simple Observation.</a:t>
            </a:r>
            <a:endParaRPr lang="en-US" sz="1200" dirty="0"/>
          </a:p>
          <a:p>
            <a:pPr marL="254000" indent="-254000">
              <a:spcAft>
                <a:spcPts val="400"/>
              </a:spcAft>
              <a:buSzPct val="100000"/>
              <a:buChar char="☐"/>
            </a:pPr>
            <a:r>
              <a:rPr lang="en-US" sz="1200" dirty="0"/>
              <a:t>📅  </a:t>
            </a:r>
            <a:r>
              <a:rPr lang="en-US" sz="1200" dirty="0">
                <a:solidFill>
                  <a:srgbClr val="1F2933"/>
                </a:solidFill>
                <a:latin typeface="Calibri" pitchFamily="34" charset="0"/>
                <a:ea typeface="Calibri" pitchFamily="34" charset="-122"/>
                <a:cs typeface="Calibri" pitchFamily="34" charset="-120"/>
              </a:rPr>
              <a:t>Healthcare Agent: one code vs. three, and </a:t>
            </a:r>
            <a:r>
              <a:rPr lang="en-US" sz="1200" i="1" dirty="0">
                <a:solidFill>
                  <a:srgbClr val="1F2933"/>
                </a:solidFill>
                <a:latin typeface="Calibri" pitchFamily="34" charset="0"/>
                <a:ea typeface="Calibri" pitchFamily="34" charset="-122"/>
                <a:cs typeface="Calibri" pitchFamily="34" charset="-120"/>
              </a:rPr>
              <a:t>preferred</a:t>
            </a:r>
            <a:r>
              <a:rPr lang="en-US" sz="1200" dirty="0">
                <a:solidFill>
                  <a:srgbClr val="1F2933"/>
                </a:solidFill>
                <a:latin typeface="Calibri" pitchFamily="34" charset="0"/>
                <a:ea typeface="Calibri" pitchFamily="34" charset="-122"/>
                <a:cs typeface="Calibri" pitchFamily="34" charset="-120"/>
              </a:rPr>
              <a:t> → </a:t>
            </a:r>
            <a:r>
              <a:rPr lang="en-US" sz="1200" i="1" dirty="0">
                <a:solidFill>
                  <a:srgbClr val="1F2933"/>
                </a:solidFill>
                <a:latin typeface="Calibri" pitchFamily="34" charset="0"/>
                <a:ea typeface="Calibri" pitchFamily="34" charset="-122"/>
                <a:cs typeface="Calibri" pitchFamily="34" charset="-120"/>
              </a:rPr>
              <a:t>extensible</a:t>
            </a:r>
            <a:r>
              <a:rPr lang="en-US" sz="1200" dirty="0">
                <a:solidFill>
                  <a:srgbClr val="1F2933"/>
                </a:solidFill>
                <a:latin typeface="Calibri" pitchFamily="34" charset="0"/>
                <a:ea typeface="Calibri" pitchFamily="34" charset="-122"/>
                <a:cs typeface="Calibri" pitchFamily="34" charset="-120"/>
              </a:rPr>
              <a:t>; needs PACIO subject-matter experts on the call.</a:t>
            </a:r>
            <a:endParaRPr lang="en-US" sz="1200" dirty="0"/>
          </a:p>
          <a:p>
            <a:pPr marL="254000" indent="-2540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Appointment: Must Support actor targets, search parameters, scopes, and Provenance.</a:t>
            </a:r>
            <a:endParaRPr lang="en-US" sz="1200" dirty="0"/>
          </a:p>
          <a:p>
            <a:pPr marL="254000" indent="-2540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Orders: binding reviews for DeviceRequest and NutritionOrder.</a:t>
            </a:r>
            <a:endParaRPr lang="en-US" sz="1200" dirty="0"/>
          </a:p>
          <a:p>
            <a:pPr marL="254000" indent="-254000">
              <a:spcAft>
                <a:spcPts val="400"/>
              </a:spcAft>
              <a:buSzPct val="100000"/>
              <a:buChar char="☐"/>
            </a:pPr>
            <a:r>
              <a:rPr lang="en-US" sz="1200" dirty="0"/>
              <a:t>📅  </a:t>
            </a:r>
            <a:r>
              <a:rPr lang="en-US" sz="1200" dirty="0">
                <a:solidFill>
                  <a:srgbClr val="1F2933"/>
                </a:solidFill>
                <a:latin typeface="Calibri" pitchFamily="34" charset="0"/>
                <a:ea typeface="Calibri" pitchFamily="34" charset="-122"/>
                <a:cs typeface="Calibri" pitchFamily="34" charset="-120"/>
              </a:rPr>
              <a:t>Health Status Assessments: Tobacco Use rename vs. deprecate, and the Nutrition Assessment LOINC choice.</a:t>
            </a:r>
            <a:endParaRPr lang="en-US" sz="1200" dirty="0"/>
          </a:p>
          <a:p>
            <a:pPr marL="254000" indent="-2540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Laboratory: finalize the Specimen Collection Method concept list with the terminology reviewers.</a:t>
            </a:r>
            <a:endParaRPr lang="en-US" sz="1200" dirty="0"/>
          </a:p>
          <a:p>
            <a:pPr marL="254000" indent="-254000">
              <a:spcAft>
                <a:spcPts val="400"/>
              </a:spcAft>
              <a:buSzPct val="100000"/>
              <a:buChar char="☐"/>
            </a:pPr>
            <a:r>
              <a:rPr lang="en-US" sz="1200" dirty="0">
                <a:solidFill>
                  <a:srgbClr val="1F2933"/>
                </a:solidFill>
                <a:latin typeface="Calibri" pitchFamily="34" charset="0"/>
                <a:ea typeface="Calibri" pitchFamily="34" charset="-122"/>
                <a:cs typeface="Calibri" pitchFamily="34" charset="-120"/>
              </a:rPr>
              <a:t>Allergies: decide on a source-concept extension.</a:t>
            </a:r>
          </a:p>
          <a:p>
            <a:pPr marL="254000" indent="-254000">
              <a:spcAft>
                <a:spcPts val="400"/>
              </a:spcAft>
              <a:buSzPct val="100000"/>
              <a:buFontTx/>
              <a:buChar char="☐"/>
            </a:pPr>
            <a:r>
              <a:rPr lang="en-US" sz="1200" dirty="0">
                <a:solidFill>
                  <a:srgbClr val="1F2933"/>
                </a:solidFill>
                <a:latin typeface="Calibri" pitchFamily="34" charset="0"/>
                <a:ea typeface="Calibri" pitchFamily="34" charset="-122"/>
                <a:cs typeface="Calibri" pitchFamily="34" charset="-120"/>
              </a:rPr>
              <a:t>Reconcile the US Core narrative with the v7 renames, reclassifications, and revised definitions.</a:t>
            </a:r>
            <a:endParaRPr lang="en-US" sz="1200" dirty="0"/>
          </a:p>
          <a:p>
            <a:pPr marL="254000" indent="-254000">
              <a:spcAft>
                <a:spcPts val="400"/>
              </a:spcAft>
              <a:buSzPct val="100000"/>
              <a:buChar char="☐"/>
            </a:pPr>
            <a:endParaRPr lang="en-US" sz="1200" dirty="0"/>
          </a:p>
        </p:txBody>
      </p:sp>
      <p:sp>
        <p:nvSpPr>
          <p:cNvPr id="10" name="TextBox 9">
            <a:extLst>
              <a:ext uri="{FF2B5EF4-FFF2-40B4-BE49-F238E27FC236}">
                <a16:creationId xmlns:a16="http://schemas.microsoft.com/office/drawing/2014/main" id="{505BE042-1984-DCAE-E637-692C2C47901F}"/>
              </a:ext>
            </a:extLst>
          </p:cNvPr>
          <p:cNvSpPr txBox="1"/>
          <p:nvPr/>
        </p:nvSpPr>
        <p:spPr>
          <a:xfrm>
            <a:off x="386080" y="1232337"/>
            <a:ext cx="6258316" cy="400110"/>
          </a:xfrm>
          <a:prstGeom prst="rect">
            <a:avLst/>
          </a:prstGeom>
          <a:noFill/>
        </p:spPr>
        <p:txBody>
          <a:bodyPr wrap="none" rtlCol="0">
            <a:spAutoFit/>
          </a:bodyPr>
          <a:lstStyle/>
          <a:p>
            <a:r>
              <a:rPr lang="en-US" sz="2000" b="1" dirty="0">
                <a:solidFill>
                  <a:srgbClr val="1F3A5F"/>
                </a:solidFill>
                <a:latin typeface="Calibri" pitchFamily="34" charset="0"/>
                <a:ea typeface="Calibri" pitchFamily="34" charset="-122"/>
                <a:cs typeface="Calibri" pitchFamily="34" charset="-120"/>
              </a:rPr>
              <a:t>Argonaut Handoff to HL7 and </a:t>
            </a:r>
            <a:r>
              <a:rPr lang="en-US" sz="2000" b="1" dirty="0" err="1">
                <a:solidFill>
                  <a:srgbClr val="1F3A5F"/>
                </a:solidFill>
                <a:latin typeface="Calibri" pitchFamily="34" charset="0"/>
                <a:ea typeface="Calibri" pitchFamily="34" charset="-122"/>
                <a:cs typeface="Calibri" pitchFamily="34" charset="-120"/>
              </a:rPr>
              <a:t>CGP</a:t>
            </a:r>
            <a:r>
              <a:rPr lang="en-US" sz="2000" b="1" dirty="0" err="1">
                <a:solidFill>
                  <a:srgbClr val="FFFFFF"/>
                </a:solidFill>
                <a:latin typeface="Cambria" pitchFamily="34" charset="0"/>
              </a:rPr>
              <a:t>ill</a:t>
            </a:r>
            <a:r>
              <a:rPr lang="en-US" sz="2000" b="1" dirty="0">
                <a:solidFill>
                  <a:srgbClr val="FFFFFF"/>
                </a:solidFill>
                <a:latin typeface="Cambria" pitchFamily="34" charset="0"/>
              </a:rPr>
              <a:t> discuss this week</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F3A5F"/>
        </a:solidFill>
        <a:effectLst/>
      </p:bgPr>
    </p:bg>
    <p:spTree>
      <p:nvGrpSpPr>
        <p:cNvPr id="1" name="">
          <a:extLst>
            <a:ext uri="{FF2B5EF4-FFF2-40B4-BE49-F238E27FC236}">
              <a16:creationId xmlns:a16="http://schemas.microsoft.com/office/drawing/2014/main" id="{97B60717-2685-033C-39B1-646670DA060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A43FF43-106F-2D8D-2E03-54E2B37B397A}"/>
              </a:ext>
            </a:extLst>
          </p:cNvPr>
          <p:cNvSpPr txBox="1"/>
          <p:nvPr/>
        </p:nvSpPr>
        <p:spPr>
          <a:xfrm>
            <a:off x="914400" y="2651760"/>
            <a:ext cx="10362895" cy="128016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Thank you to the Argonaut Project Sponsors and All the Participants in the Design Calls</a:t>
            </a:r>
          </a:p>
        </p:txBody>
      </p:sp>
      <p:pic>
        <p:nvPicPr>
          <p:cNvPr id="4" name="Picture 3" descr="A blue and white logo&#10;&#10;Description automatically generated">
            <a:extLst>
              <a:ext uri="{FF2B5EF4-FFF2-40B4-BE49-F238E27FC236}">
                <a16:creationId xmlns:a16="http://schemas.microsoft.com/office/drawing/2014/main" id="{EAE6B2C8-6C17-3A64-26EB-548669EDB164}"/>
              </a:ext>
            </a:extLst>
          </p:cNvPr>
          <p:cNvPicPr>
            <a:picLocks noChangeAspect="1"/>
          </p:cNvPicPr>
          <p:nvPr/>
        </p:nvPicPr>
        <p:blipFill>
          <a:blip r:embed="rId3"/>
          <a:stretch>
            <a:fillRect/>
          </a:stretch>
        </p:blipFill>
        <p:spPr>
          <a:xfrm>
            <a:off x="457200" y="274320"/>
            <a:ext cx="1456469" cy="1280160"/>
          </a:xfrm>
          <a:prstGeom prst="rect">
            <a:avLst/>
          </a:prstGeom>
        </p:spPr>
      </p:pic>
      <p:pic>
        <p:nvPicPr>
          <p:cNvPr id="5" name="Picture 4" descr="A logo with stars and stripes&#10;&#10;Description automatically generated">
            <a:extLst>
              <a:ext uri="{FF2B5EF4-FFF2-40B4-BE49-F238E27FC236}">
                <a16:creationId xmlns:a16="http://schemas.microsoft.com/office/drawing/2014/main" id="{C1DAB113-1D0F-B535-D55A-2633821116CA}"/>
              </a:ext>
            </a:extLst>
          </p:cNvPr>
          <p:cNvPicPr>
            <a:picLocks noChangeAspect="1"/>
          </p:cNvPicPr>
          <p:nvPr/>
        </p:nvPicPr>
        <p:blipFill>
          <a:blip r:embed="rId4"/>
          <a:stretch>
            <a:fillRect/>
          </a:stretch>
        </p:blipFill>
        <p:spPr>
          <a:xfrm>
            <a:off x="2132273" y="274320"/>
            <a:ext cx="1280160" cy="1280160"/>
          </a:xfrm>
          <a:prstGeom prst="rect">
            <a:avLst/>
          </a:prstGeom>
        </p:spPr>
      </p:pic>
    </p:spTree>
    <p:extLst>
      <p:ext uri="{BB962C8B-B14F-4D97-AF65-F5344CB8AC3E}">
        <p14:creationId xmlns:p14="http://schemas.microsoft.com/office/powerpoint/2010/main" val="32893291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F3A5F"/>
        </a:solidFill>
        <a:effectLst/>
      </p:bgPr>
    </p:bg>
    <p:spTree>
      <p:nvGrpSpPr>
        <p:cNvPr id="1" name="">
          <a:extLst>
            <a:ext uri="{FF2B5EF4-FFF2-40B4-BE49-F238E27FC236}">
              <a16:creationId xmlns:a16="http://schemas.microsoft.com/office/drawing/2014/main" id="{F6C43DA2-E227-4296-A7F4-6B7361F34EC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5A08CCC-3AE1-2C27-97BF-81F20102349F}"/>
              </a:ext>
            </a:extLst>
          </p:cNvPr>
          <p:cNvSpPr txBox="1"/>
          <p:nvPr/>
        </p:nvSpPr>
        <p:spPr>
          <a:xfrm>
            <a:off x="914400" y="2651760"/>
            <a:ext cx="10362895" cy="128016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Questions</a:t>
            </a:r>
          </a:p>
        </p:txBody>
      </p:sp>
      <p:pic>
        <p:nvPicPr>
          <p:cNvPr id="4" name="Picture 3" descr="A blue and white logo&#10;&#10;Description automatically generated">
            <a:extLst>
              <a:ext uri="{FF2B5EF4-FFF2-40B4-BE49-F238E27FC236}">
                <a16:creationId xmlns:a16="http://schemas.microsoft.com/office/drawing/2014/main" id="{9D2D72DB-97AB-1AFB-FC46-CFBFC4DF9E0D}"/>
              </a:ext>
            </a:extLst>
          </p:cNvPr>
          <p:cNvPicPr>
            <a:picLocks noChangeAspect="1"/>
          </p:cNvPicPr>
          <p:nvPr/>
        </p:nvPicPr>
        <p:blipFill>
          <a:blip r:embed="rId3"/>
          <a:stretch>
            <a:fillRect/>
          </a:stretch>
        </p:blipFill>
        <p:spPr>
          <a:xfrm>
            <a:off x="457200" y="274320"/>
            <a:ext cx="1456469" cy="1280160"/>
          </a:xfrm>
          <a:prstGeom prst="rect">
            <a:avLst/>
          </a:prstGeom>
        </p:spPr>
      </p:pic>
      <p:pic>
        <p:nvPicPr>
          <p:cNvPr id="5" name="Picture 4" descr="A logo with stars and stripes&#10;&#10;Description automatically generated">
            <a:extLst>
              <a:ext uri="{FF2B5EF4-FFF2-40B4-BE49-F238E27FC236}">
                <a16:creationId xmlns:a16="http://schemas.microsoft.com/office/drawing/2014/main" id="{5214F718-6A87-BAA7-9EE4-541DDBBA2071}"/>
              </a:ext>
            </a:extLst>
          </p:cNvPr>
          <p:cNvPicPr>
            <a:picLocks noChangeAspect="1"/>
          </p:cNvPicPr>
          <p:nvPr/>
        </p:nvPicPr>
        <p:blipFill>
          <a:blip r:embed="rId4"/>
          <a:stretch>
            <a:fillRect/>
          </a:stretch>
        </p:blipFill>
        <p:spPr>
          <a:xfrm>
            <a:off x="2132273" y="274320"/>
            <a:ext cx="1280160" cy="1280160"/>
          </a:xfrm>
          <a:prstGeom prst="rect">
            <a:avLst/>
          </a:prstGeom>
        </p:spPr>
      </p:pic>
    </p:spTree>
    <p:extLst>
      <p:ext uri="{BB962C8B-B14F-4D97-AF65-F5344CB8AC3E}">
        <p14:creationId xmlns:p14="http://schemas.microsoft.com/office/powerpoint/2010/main" val="20281873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849</TotalTime>
  <Words>4936</Words>
  <Application>Microsoft Macintosh PowerPoint</Application>
  <PresentationFormat>Widescreen</PresentationFormat>
  <Paragraphs>665</Paragraphs>
  <Slides>38</Slides>
  <Notes>38</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Core V10 — Summary of USCDI v7 Design Decisions</dc:title>
  <dc:subject>PptxGenJS Presentation</dc:subject>
  <dc:creator>Eric Haas</dc:creator>
  <cp:lastModifiedBy>Eric Haas</cp:lastModifiedBy>
  <cp:revision>10</cp:revision>
  <dcterms:created xsi:type="dcterms:W3CDTF">2026-09-15T01:35:53Z</dcterms:created>
  <dcterms:modified xsi:type="dcterms:W3CDTF">2026-09-22T14:45:14Z</dcterms:modified>
</cp:coreProperties>
</file>